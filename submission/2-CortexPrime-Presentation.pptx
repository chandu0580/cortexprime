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63640"/>
            <a:ext cx="12191695" cy="594360"/>
          </a:xfrm>
          <a:prstGeom prst="rect">
            <a:avLst/>
          </a:prstGeom>
          <a:solidFill>
            <a:srgbClr val="1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57400"/>
            <a:ext cx="10332720" cy="1280160"/>
          </a:xfrm>
          <a:prstGeom prst="rect">
            <a:avLst/>
          </a:prstGeom>
          <a:noFill/>
        </p:spPr>
        <p:txBody>
          <a:bodyPr wrap="square">
            <a:spAutoFit/>
          </a:bodyPr>
          <a:lstStyle/>
          <a:p>
            <a:pPr algn="l">
              <a:spcAft>
                <a:spcPts val="600"/>
              </a:spcAft>
            </a:pPr>
            <a:r>
              <a:rPr sz="6000" b="1">
                <a:solidFill>
                  <a:srgbClr val="82C0A4"/>
                </a:solidFill>
                <a:latin typeface="Segoe UI"/>
              </a:rPr>
              <a:t>CortexPrime</a:t>
            </a:r>
          </a:p>
        </p:txBody>
      </p:sp>
      <p:sp>
        <p:nvSpPr>
          <p:cNvPr id="6" name="TextBox 5"/>
          <p:cNvSpPr txBox="1"/>
          <p:nvPr/>
        </p:nvSpPr>
        <p:spPr>
          <a:xfrm>
            <a:off x="960120" y="3154680"/>
            <a:ext cx="10332720" cy="548640"/>
          </a:xfrm>
          <a:prstGeom prst="rect">
            <a:avLst/>
          </a:prstGeom>
          <a:noFill/>
        </p:spPr>
        <p:txBody>
          <a:bodyPr wrap="square">
            <a:spAutoFit/>
          </a:bodyPr>
          <a:lstStyle/>
          <a:p>
            <a:pPr algn="l">
              <a:spcAft>
                <a:spcPts val="600"/>
              </a:spcAft>
            </a:pPr>
            <a:r>
              <a:rPr sz="1900" b="0">
                <a:solidFill>
                  <a:srgbClr val="F0F7F4"/>
                </a:solidFill>
                <a:latin typeface="Segoe UI"/>
              </a:rPr>
              <a:t>AI-Native Enterprise Operations Intelligence Platform</a:t>
            </a:r>
          </a:p>
        </p:txBody>
      </p:sp>
      <p:sp>
        <p:nvSpPr>
          <p:cNvPr id="7" name="Rectangle 6"/>
          <p:cNvSpPr/>
          <p:nvPr/>
        </p:nvSpPr>
        <p:spPr>
          <a:xfrm>
            <a:off x="960120" y="3840480"/>
            <a:ext cx="2011680" cy="41148"/>
          </a:xfrm>
          <a:prstGeom prst="rect">
            <a:avLst/>
          </a:prstGeom>
          <a:solidFill>
            <a:srgbClr val="4A8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206240"/>
            <a:ext cx="10058400" cy="457200"/>
          </a:xfrm>
          <a:prstGeom prst="rect">
            <a:avLst/>
          </a:prstGeom>
          <a:noFill/>
        </p:spPr>
        <p:txBody>
          <a:bodyPr wrap="square">
            <a:spAutoFit/>
          </a:bodyPr>
          <a:lstStyle/>
          <a:p>
            <a:pPr algn="l">
              <a:spcAft>
                <a:spcPts val="600"/>
              </a:spcAft>
            </a:pPr>
            <a:r>
              <a:rPr sz="1500" b="0">
                <a:solidFill>
                  <a:srgbClr val="A6ADAA"/>
                </a:solidFill>
                <a:latin typeface="Segoe UI"/>
              </a:rPr>
              <a:t>Detect the problem  ·  Explain the cause  ·  Fix it  ·  Verify</a:t>
            </a:r>
          </a:p>
        </p:txBody>
      </p:sp>
      <p:sp>
        <p:nvSpPr>
          <p:cNvPr id="9" name="TextBox 8"/>
          <p:cNvSpPr txBox="1"/>
          <p:nvPr/>
        </p:nvSpPr>
        <p:spPr>
          <a:xfrm>
            <a:off x="914400" y="6382512"/>
            <a:ext cx="10332720" cy="365760"/>
          </a:xfrm>
          <a:prstGeom prst="rect">
            <a:avLst/>
          </a:prstGeom>
          <a:noFill/>
        </p:spPr>
        <p:txBody>
          <a:bodyPr wrap="square">
            <a:spAutoFit/>
          </a:bodyPr>
          <a:lstStyle/>
          <a:p>
            <a:pPr algn="l">
              <a:spcAft>
                <a:spcPts val="600"/>
              </a:spcAft>
            </a:pPr>
            <a:r>
              <a:rPr sz="1300" b="0">
                <a:solidFill>
                  <a:srgbClr val="A6ADAA"/>
                </a:solidFill>
                <a:latin typeface="Segoe UI"/>
              </a:rPr>
              <a:t>Chandu S    ·    24BMMCA023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10896"/>
            <a:ext cx="10058400" cy="274320"/>
          </a:xfrm>
          <a:prstGeom prst="rect">
            <a:avLst/>
          </a:prstGeom>
          <a:noFill/>
        </p:spPr>
        <p:txBody>
          <a:bodyPr wrap="square">
            <a:spAutoFit/>
          </a:bodyPr>
          <a:lstStyle/>
          <a:p>
            <a:pPr algn="l">
              <a:spcAft>
                <a:spcPts val="600"/>
              </a:spcAft>
            </a:pPr>
            <a:r>
              <a:rPr sz="1100" b="1">
                <a:solidFill>
                  <a:srgbClr val="82C0A4"/>
                </a:solidFill>
                <a:latin typeface="Segoe UI"/>
              </a:rPr>
              <a:t>THE PROBLEM</a:t>
            </a:r>
          </a:p>
        </p:txBody>
      </p:sp>
      <p:sp>
        <p:nvSpPr>
          <p:cNvPr id="5" name="TextBox 4"/>
          <p:cNvSpPr txBox="1"/>
          <p:nvPr/>
        </p:nvSpPr>
        <p:spPr>
          <a:xfrm>
            <a:off x="640080" y="548640"/>
            <a:ext cx="10972800" cy="640080"/>
          </a:xfrm>
          <a:prstGeom prst="rect">
            <a:avLst/>
          </a:prstGeom>
          <a:noFill/>
        </p:spPr>
        <p:txBody>
          <a:bodyPr wrap="square">
            <a:spAutoFit/>
          </a:bodyPr>
          <a:lstStyle/>
          <a:p>
            <a:pPr algn="l">
              <a:spcAft>
                <a:spcPts val="600"/>
              </a:spcAft>
            </a:pPr>
            <a:r>
              <a:rPr sz="2700" b="1">
                <a:solidFill>
                  <a:srgbClr val="F0F7F4"/>
                </a:solidFill>
                <a:latin typeface="Segoe UI"/>
              </a:rPr>
              <a:t>Production breaks. Alerts don't help.</a:t>
            </a:r>
          </a:p>
        </p:txBody>
      </p:sp>
      <p:sp>
        <p:nvSpPr>
          <p:cNvPr id="6" name="Rectangle 5"/>
          <p:cNvSpPr/>
          <p:nvPr/>
        </p:nvSpPr>
        <p:spPr>
          <a:xfrm>
            <a:off x="658368" y="1207008"/>
            <a:ext cx="1097280" cy="32004"/>
          </a:xfrm>
          <a:prstGeom prst="rect">
            <a:avLst/>
          </a:prstGeom>
          <a:solidFill>
            <a:srgbClr val="4A8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572768"/>
            <a:ext cx="5212080" cy="3794760"/>
          </a:xfrm>
          <a:prstGeom prst="roundRect">
            <a:avLst/>
          </a:prstGeom>
          <a:solidFill>
            <a:srgbClr val="121A16"/>
          </a:solidFill>
          <a:ln w="15875">
            <a:solidFill>
              <a:srgbClr val="313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572768"/>
            <a:ext cx="5212080" cy="566928"/>
          </a:xfrm>
          <a:prstGeom prst="round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350" b="1">
                <a:solidFill>
                  <a:srgbClr val="0A100D"/>
                </a:solidFill>
                <a:latin typeface="Segoe UI"/>
              </a:rPr>
              <a:t>WHAT TODAY'S TOOLS GIVE YOU</a:t>
            </a:r>
          </a:p>
        </p:txBody>
      </p:sp>
      <p:sp>
        <p:nvSpPr>
          <p:cNvPr id="9" name="TextBox 8"/>
          <p:cNvSpPr txBox="1"/>
          <p:nvPr/>
        </p:nvSpPr>
        <p:spPr>
          <a:xfrm>
            <a:off x="960120" y="2350008"/>
            <a:ext cx="4709160" cy="2880360"/>
          </a:xfrm>
          <a:prstGeom prst="rect">
            <a:avLst/>
          </a:prstGeom>
          <a:noFill/>
        </p:spPr>
        <p:txBody>
          <a:bodyPr wrap="square">
            <a:spAutoFit/>
          </a:bodyPr>
          <a:lstStyle/>
          <a:p>
            <a:pPr>
              <a:spcAft>
                <a:spcPts val="3445"/>
              </a:spcAft>
            </a:pPr>
            <a:r>
              <a:rPr sz="1300" b="1">
                <a:solidFill>
                  <a:srgbClr val="F87171"/>
                </a:solidFill>
                <a:latin typeface="Segoe UI Symbol"/>
              </a:rPr>
              <a:t>✗   </a:t>
            </a:r>
            <a:r>
              <a:rPr sz="1400">
                <a:solidFill>
                  <a:srgbClr val="F0F7F4"/>
                </a:solidFill>
                <a:latin typeface="Segoe UI"/>
              </a:rPr>
              <a:t>"CPU at 95%" — a symptom, not a cause</a:t>
            </a:r>
          </a:p>
          <a:p>
            <a:pPr>
              <a:spcAft>
                <a:spcPts val="3445"/>
              </a:spcAft>
            </a:pPr>
            <a:r>
              <a:rPr sz="1300" b="1">
                <a:solidFill>
                  <a:srgbClr val="F87171"/>
                </a:solidFill>
                <a:latin typeface="Segoe UI Symbol"/>
              </a:rPr>
              <a:t>✗   </a:t>
            </a:r>
            <a:r>
              <a:rPr sz="1400">
                <a:solidFill>
                  <a:srgbClr val="F0F7F4"/>
                </a:solidFill>
                <a:latin typeface="Segoe UI"/>
              </a:rPr>
              <a:t>Dozens of alerts for one incident</a:t>
            </a:r>
          </a:p>
          <a:p>
            <a:pPr>
              <a:spcAft>
                <a:spcPts val="3445"/>
              </a:spcAft>
            </a:pPr>
            <a:r>
              <a:rPr sz="1300" b="1">
                <a:solidFill>
                  <a:srgbClr val="F87171"/>
                </a:solidFill>
                <a:latin typeface="Segoe UI Symbol"/>
              </a:rPr>
              <a:t>✗   </a:t>
            </a:r>
            <a:r>
              <a:rPr sz="1400">
                <a:solidFill>
                  <a:srgbClr val="F0F7F4"/>
                </a:solidFill>
                <a:latin typeface="Segoe UI"/>
              </a:rPr>
              <a:t>Logs, metrics and deploys in separate tools</a:t>
            </a:r>
          </a:p>
          <a:p>
            <a:pPr>
              <a:spcAft>
                <a:spcPts val="3445"/>
              </a:spcAft>
            </a:pPr>
            <a:r>
              <a:rPr sz="1300" b="1">
                <a:solidFill>
                  <a:srgbClr val="F87171"/>
                </a:solidFill>
                <a:latin typeface="Segoe UI Symbol"/>
              </a:rPr>
              <a:t>✗   </a:t>
            </a:r>
            <a:r>
              <a:rPr sz="1400">
                <a:solidFill>
                  <a:srgbClr val="F0F7F4"/>
                </a:solidFill>
                <a:latin typeface="Segoe UI"/>
              </a:rPr>
              <a:t>Hours of manual correlation</a:t>
            </a:r>
          </a:p>
          <a:p>
            <a:pPr>
              <a:spcAft>
                <a:spcPts val="3445"/>
              </a:spcAft>
            </a:pPr>
            <a:r>
              <a:rPr sz="1300" b="1">
                <a:solidFill>
                  <a:srgbClr val="F87171"/>
                </a:solidFill>
                <a:latin typeface="Segoe UI Symbol"/>
              </a:rPr>
              <a:t>✗   </a:t>
            </a:r>
            <a:r>
              <a:rPr sz="1400">
                <a:solidFill>
                  <a:srgbClr val="F0F7F4"/>
                </a:solidFill>
                <a:latin typeface="Segoe UI"/>
              </a:rPr>
              <a:t>The fix lives in one engineer's head</a:t>
            </a:r>
          </a:p>
        </p:txBody>
      </p:sp>
      <p:sp>
        <p:nvSpPr>
          <p:cNvPr id="10" name="Rounded Rectangle 9"/>
          <p:cNvSpPr/>
          <p:nvPr/>
        </p:nvSpPr>
        <p:spPr>
          <a:xfrm>
            <a:off x="6263640" y="1572768"/>
            <a:ext cx="5212080" cy="3794760"/>
          </a:xfrm>
          <a:prstGeom prst="roundRect">
            <a:avLst/>
          </a:prstGeom>
          <a:solidFill>
            <a:srgbClr val="121A16"/>
          </a:solidFill>
          <a:ln w="15875">
            <a:solidFill>
              <a:srgbClr val="313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1572768"/>
            <a:ext cx="5212080" cy="566928"/>
          </a:xfrm>
          <a:prstGeom prst="roundRect">
            <a:avLst/>
          </a:prstGeom>
          <a:solidFill>
            <a:srgbClr val="38B8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350" b="1">
                <a:solidFill>
                  <a:srgbClr val="0A100D"/>
                </a:solidFill>
                <a:latin typeface="Segoe UI"/>
              </a:rPr>
              <a:t>WHAT A TEAM ACTUALLY NEEDS</a:t>
            </a:r>
          </a:p>
        </p:txBody>
      </p:sp>
      <p:sp>
        <p:nvSpPr>
          <p:cNvPr id="12" name="TextBox 11"/>
          <p:cNvSpPr txBox="1"/>
          <p:nvPr/>
        </p:nvSpPr>
        <p:spPr>
          <a:xfrm>
            <a:off x="6537960" y="2350008"/>
            <a:ext cx="4709160" cy="2880360"/>
          </a:xfrm>
          <a:prstGeom prst="rect">
            <a:avLst/>
          </a:prstGeom>
          <a:noFill/>
        </p:spPr>
        <p:txBody>
          <a:bodyPr wrap="square">
            <a:spAutoFit/>
          </a:bodyPr>
          <a:lstStyle/>
          <a:p>
            <a:pPr>
              <a:spcAft>
                <a:spcPts val="3445"/>
              </a:spcAft>
            </a:pPr>
            <a:r>
              <a:rPr sz="1300" b="1">
                <a:solidFill>
                  <a:srgbClr val="38B88A"/>
                </a:solidFill>
                <a:latin typeface="Segoe UI Symbol"/>
              </a:rPr>
              <a:t>✓   </a:t>
            </a:r>
            <a:r>
              <a:rPr sz="1400">
                <a:solidFill>
                  <a:srgbClr val="F0F7F4"/>
                </a:solidFill>
                <a:latin typeface="Segoe UI"/>
              </a:rPr>
              <a:t>Which deploy caused it, and which commit</a:t>
            </a:r>
          </a:p>
          <a:p>
            <a:pPr>
              <a:spcAft>
                <a:spcPts val="3445"/>
              </a:spcAft>
            </a:pPr>
            <a:r>
              <a:rPr sz="1300" b="1">
                <a:solidFill>
                  <a:srgbClr val="38B88A"/>
                </a:solidFill>
                <a:latin typeface="Segoe UI Symbol"/>
              </a:rPr>
              <a:t>✓   </a:t>
            </a:r>
            <a:r>
              <a:rPr sz="1400">
                <a:solidFill>
                  <a:srgbClr val="F0F7F4"/>
                </a:solidFill>
                <a:latin typeface="Segoe UI"/>
              </a:rPr>
              <a:t>One incident, not forty alerts</a:t>
            </a:r>
          </a:p>
          <a:p>
            <a:pPr>
              <a:spcAft>
                <a:spcPts val="3445"/>
              </a:spcAft>
            </a:pPr>
            <a:r>
              <a:rPr sz="1300" b="1">
                <a:solidFill>
                  <a:srgbClr val="38B88A"/>
                </a:solidFill>
                <a:latin typeface="Segoe UI Symbol"/>
              </a:rPr>
              <a:t>✓   </a:t>
            </a:r>
            <a:r>
              <a:rPr sz="1400">
                <a:solidFill>
                  <a:srgbClr val="F0F7F4"/>
                </a:solidFill>
                <a:latin typeface="Segoe UI"/>
              </a:rPr>
              <a:t>Evidence gathered and correlated for you</a:t>
            </a:r>
          </a:p>
          <a:p>
            <a:pPr>
              <a:spcAft>
                <a:spcPts val="3445"/>
              </a:spcAft>
            </a:pPr>
            <a:r>
              <a:rPr sz="1300" b="1">
                <a:solidFill>
                  <a:srgbClr val="38B88A"/>
                </a:solidFill>
                <a:latin typeface="Segoe UI Symbol"/>
              </a:rPr>
              <a:t>✓   </a:t>
            </a:r>
            <a:r>
              <a:rPr sz="1400">
                <a:solidFill>
                  <a:srgbClr val="F0F7F4"/>
                </a:solidFill>
                <a:latin typeface="Segoe UI"/>
              </a:rPr>
              <a:t>A specific fix, ready to apply</a:t>
            </a:r>
          </a:p>
          <a:p>
            <a:pPr>
              <a:spcAft>
                <a:spcPts val="3445"/>
              </a:spcAft>
            </a:pPr>
            <a:r>
              <a:rPr sz="1300" b="1">
                <a:solidFill>
                  <a:srgbClr val="38B88A"/>
                </a:solidFill>
                <a:latin typeface="Segoe UI Symbol"/>
              </a:rPr>
              <a:t>✓   </a:t>
            </a:r>
            <a:r>
              <a:rPr sz="1400">
                <a:solidFill>
                  <a:srgbClr val="F0F7F4"/>
                </a:solidFill>
                <a:latin typeface="Segoe UI"/>
              </a:rPr>
              <a:t>The knowledge captured in the system</a:t>
            </a:r>
          </a:p>
        </p:txBody>
      </p:sp>
      <p:sp>
        <p:nvSpPr>
          <p:cNvPr id="13" name="Rounded Rectangle 12"/>
          <p:cNvSpPr/>
          <p:nvPr/>
        </p:nvSpPr>
        <p:spPr>
          <a:xfrm>
            <a:off x="685800" y="5532120"/>
            <a:ext cx="10789920" cy="731520"/>
          </a:xfrm>
          <a:prstGeom prst="roundRect">
            <a:avLst/>
          </a:prstGeom>
          <a:solidFill>
            <a:srgbClr val="1A2520"/>
          </a:solidFill>
          <a:ln w="12700">
            <a:solidFill>
              <a:srgbClr val="313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5532120"/>
            <a:ext cx="50292" cy="731520"/>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660136"/>
            <a:ext cx="10424160" cy="548640"/>
          </a:xfrm>
          <a:prstGeom prst="rect">
            <a:avLst/>
          </a:prstGeom>
          <a:noFill/>
        </p:spPr>
        <p:txBody>
          <a:bodyPr wrap="square">
            <a:spAutoFit/>
          </a:bodyPr>
          <a:lstStyle/>
          <a:p>
            <a:pPr algn="l">
              <a:spcAft>
                <a:spcPts val="600"/>
              </a:spcAft>
            </a:pPr>
            <a:r>
              <a:rPr sz="1300" b="0">
                <a:solidFill>
                  <a:srgbClr val="F0F7F4"/>
                </a:solidFill>
                <a:latin typeface="Segoe UI"/>
              </a:rPr>
              <a:t>Datadog, Azure SRE Agent and New Relic all diagnose — and all stop there. Verified from vendor documentation: none of them executes the fix.</a:t>
            </a:r>
          </a:p>
        </p:txBody>
      </p:sp>
      <p:sp>
        <p:nvSpPr>
          <p:cNvPr id="16" name="TextBox 15"/>
          <p:cNvSpPr txBox="1"/>
          <p:nvPr/>
        </p:nvSpPr>
        <p:spPr>
          <a:xfrm>
            <a:off x="10332720" y="6382512"/>
            <a:ext cx="1463040" cy="274320"/>
          </a:xfrm>
          <a:prstGeom prst="rect">
            <a:avLst/>
          </a:prstGeom>
          <a:noFill/>
        </p:spPr>
        <p:txBody>
          <a:bodyPr wrap="square">
            <a:spAutoFit/>
          </a:bodyPr>
          <a:lstStyle/>
          <a:p>
            <a:pPr algn="r">
              <a:spcAft>
                <a:spcPts val="600"/>
              </a:spcAft>
            </a:pPr>
            <a:r>
              <a:rPr sz="900" b="0">
                <a:solidFill>
                  <a:srgbClr val="6B716E"/>
                </a:solidFill>
                <a:latin typeface="Segoe UI"/>
              </a:rPr>
              <a:t>CortexPrime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10896"/>
            <a:ext cx="10058400" cy="274320"/>
          </a:xfrm>
          <a:prstGeom prst="rect">
            <a:avLst/>
          </a:prstGeom>
          <a:noFill/>
        </p:spPr>
        <p:txBody>
          <a:bodyPr wrap="square">
            <a:spAutoFit/>
          </a:bodyPr>
          <a:lstStyle/>
          <a:p>
            <a:pPr algn="l">
              <a:spcAft>
                <a:spcPts val="600"/>
              </a:spcAft>
            </a:pPr>
            <a:r>
              <a:rPr sz="1100" b="1">
                <a:solidFill>
                  <a:srgbClr val="82C0A4"/>
                </a:solidFill>
                <a:latin typeface="Segoe UI"/>
              </a:rPr>
              <a:t>THE CORE IDEA</a:t>
            </a:r>
          </a:p>
        </p:txBody>
      </p:sp>
      <p:sp>
        <p:nvSpPr>
          <p:cNvPr id="5" name="TextBox 4"/>
          <p:cNvSpPr txBox="1"/>
          <p:nvPr/>
        </p:nvSpPr>
        <p:spPr>
          <a:xfrm>
            <a:off x="640080" y="548640"/>
            <a:ext cx="10972800" cy="640080"/>
          </a:xfrm>
          <a:prstGeom prst="rect">
            <a:avLst/>
          </a:prstGeom>
          <a:noFill/>
        </p:spPr>
        <p:txBody>
          <a:bodyPr wrap="square">
            <a:spAutoFit/>
          </a:bodyPr>
          <a:lstStyle/>
          <a:p>
            <a:pPr algn="l">
              <a:spcAft>
                <a:spcPts val="600"/>
              </a:spcAft>
            </a:pPr>
            <a:r>
              <a:rPr sz="2700" b="1">
                <a:solidFill>
                  <a:srgbClr val="F0F7F4"/>
                </a:solidFill>
                <a:latin typeface="Segoe UI"/>
              </a:rPr>
              <a:t>The CortexPrime Loop</a:t>
            </a:r>
          </a:p>
        </p:txBody>
      </p:sp>
      <p:sp>
        <p:nvSpPr>
          <p:cNvPr id="6" name="Rectangle 5"/>
          <p:cNvSpPr/>
          <p:nvPr/>
        </p:nvSpPr>
        <p:spPr>
          <a:xfrm>
            <a:off x="658368" y="1207008"/>
            <a:ext cx="1097280" cy="32004"/>
          </a:xfrm>
          <a:prstGeom prst="rect">
            <a:avLst/>
          </a:prstGeom>
          <a:solidFill>
            <a:srgbClr val="4A8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93208" y="3108960"/>
            <a:ext cx="2011680" cy="822960"/>
          </a:xfrm>
          <a:prstGeom prst="ellipse">
            <a:avLst/>
          </a:prstGeom>
          <a:solidFill>
            <a:srgbClr val="1A2520"/>
          </a:solidFill>
          <a:ln w="15875">
            <a:solidFill>
              <a:srgbClr val="82C0A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100" b="1">
                <a:solidFill>
                  <a:srgbClr val="82C0A4"/>
                </a:solidFill>
                <a:latin typeface="Segoe UI"/>
              </a:rPr>
              <a:t>EVERY</a:t>
            </a:r>
          </a:p>
          <a:p>
            <a:pPr algn="ctr">
              <a:spcAft>
                <a:spcPts val="100"/>
              </a:spcAft>
            </a:pPr>
            <a:r>
              <a:rPr sz="1100" b="1">
                <a:solidFill>
                  <a:srgbClr val="82C0A4"/>
                </a:solidFill>
                <a:latin typeface="Segoe UI"/>
              </a:rPr>
              <a:t>FEATURE</a:t>
            </a:r>
          </a:p>
        </p:txBody>
      </p:sp>
      <p:cxnSp>
        <p:nvCxnSpPr>
          <p:cNvPr id="8" name="Connector 7"/>
          <p:cNvCxnSpPr/>
          <p:nvPr/>
        </p:nvCxnSpPr>
        <p:spPr>
          <a:xfrm>
            <a:off x="7124160" y="2216164"/>
            <a:ext cx="668691" cy="193034"/>
          </a:xfrm>
          <a:prstGeom prst="line">
            <a:avLst/>
          </a:prstGeom>
          <a:ln w="25400">
            <a:solidFill>
              <a:srgbClr val="82C0A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870675" y="3186684"/>
            <a:ext cx="0" cy="612647"/>
          </a:xfrm>
          <a:prstGeom prst="line">
            <a:avLst/>
          </a:prstGeom>
          <a:ln w="25400">
            <a:solidFill>
              <a:srgbClr val="82C0A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176872" y="4616464"/>
            <a:ext cx="668690" cy="193034"/>
          </a:xfrm>
          <a:prstGeom prst="line">
            <a:avLst/>
          </a:prstGeom>
          <a:ln w="25400">
            <a:solidFill>
              <a:srgbClr val="82C0A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4405244" y="4631681"/>
            <a:ext cx="668691" cy="193034"/>
          </a:xfrm>
          <a:prstGeom prst="line">
            <a:avLst/>
          </a:prstGeom>
          <a:ln w="25400">
            <a:solidFill>
              <a:srgbClr val="82C0A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327420" y="3241547"/>
            <a:ext cx="0" cy="612649"/>
          </a:xfrm>
          <a:prstGeom prst="line">
            <a:avLst/>
          </a:prstGeom>
          <a:ln w="25400">
            <a:solidFill>
              <a:srgbClr val="82C0A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4352533" y="2231381"/>
            <a:ext cx="668690" cy="193034"/>
          </a:xfrm>
          <a:prstGeom prst="line">
            <a:avLst/>
          </a:prstGeom>
          <a:ln w="25400">
            <a:solidFill>
              <a:srgbClr val="82C0A4"/>
            </a:solidFill>
            <a:tailEnd type="triangle" w="med" h="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161788" y="1545336"/>
            <a:ext cx="1874519" cy="749808"/>
          </a:xfrm>
          <a:prstGeom prst="round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250" b="1">
                <a:solidFill>
                  <a:srgbClr val="0A100D"/>
                </a:solidFill>
                <a:latin typeface="Segoe UI"/>
              </a:rPr>
              <a:t>DETECT</a:t>
            </a:r>
          </a:p>
          <a:p>
            <a:pPr algn="ctr">
              <a:spcAft>
                <a:spcPts val="100"/>
              </a:spcAft>
            </a:pPr>
            <a:r>
              <a:rPr sz="900" b="0">
                <a:solidFill>
                  <a:srgbClr val="1E3329"/>
                </a:solidFill>
                <a:latin typeface="Segoe UI"/>
              </a:rPr>
              <a:t>monitor real systems</a:t>
            </a:r>
          </a:p>
        </p:txBody>
      </p:sp>
      <p:sp>
        <p:nvSpPr>
          <p:cNvPr id="15" name="Rounded Rectangle 14"/>
          <p:cNvSpPr/>
          <p:nvPr/>
        </p:nvSpPr>
        <p:spPr>
          <a:xfrm>
            <a:off x="7933415" y="2345436"/>
            <a:ext cx="1874519" cy="749808"/>
          </a:xfrm>
          <a:prstGeom prst="roundRect">
            <a:avLst/>
          </a:prstGeom>
          <a:solidFill>
            <a:srgbClr val="4A8C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250" b="1">
                <a:solidFill>
                  <a:srgbClr val="F0F7F4"/>
                </a:solidFill>
                <a:latin typeface="Segoe UI"/>
              </a:rPr>
              <a:t>EXPLAIN</a:t>
            </a:r>
          </a:p>
          <a:p>
            <a:pPr algn="ctr">
              <a:spcAft>
                <a:spcPts val="100"/>
              </a:spcAft>
            </a:pPr>
            <a:r>
              <a:rPr sz="900" b="0">
                <a:solidFill>
                  <a:srgbClr val="C6DBD1"/>
                </a:solidFill>
                <a:latin typeface="Segoe UI"/>
              </a:rPr>
              <a:t>root cause + evidence</a:t>
            </a:r>
          </a:p>
        </p:txBody>
      </p:sp>
      <p:sp>
        <p:nvSpPr>
          <p:cNvPr id="16" name="Rounded Rectangle 15"/>
          <p:cNvSpPr/>
          <p:nvPr/>
        </p:nvSpPr>
        <p:spPr>
          <a:xfrm>
            <a:off x="7933415" y="3945635"/>
            <a:ext cx="1874519" cy="749808"/>
          </a:xfrm>
          <a:prstGeom prst="round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250" b="1">
                <a:solidFill>
                  <a:srgbClr val="0A100D"/>
                </a:solidFill>
                <a:latin typeface="Segoe UI"/>
              </a:rPr>
              <a:t>PLAN</a:t>
            </a:r>
          </a:p>
          <a:p>
            <a:pPr algn="ctr">
              <a:spcAft>
                <a:spcPts val="100"/>
              </a:spcAft>
            </a:pPr>
            <a:r>
              <a:rPr sz="900" b="0">
                <a:solidFill>
                  <a:srgbClr val="1E3329"/>
                </a:solidFill>
                <a:latin typeface="Segoe UI"/>
              </a:rPr>
              <a:t>a specific fix</a:t>
            </a:r>
          </a:p>
        </p:txBody>
      </p:sp>
      <p:sp>
        <p:nvSpPr>
          <p:cNvPr id="17" name="Rounded Rectangle 16"/>
          <p:cNvSpPr/>
          <p:nvPr/>
        </p:nvSpPr>
        <p:spPr>
          <a:xfrm>
            <a:off x="5161788" y="4745736"/>
            <a:ext cx="1874519" cy="749808"/>
          </a:xfrm>
          <a:prstGeom prst="roundRect">
            <a:avLst/>
          </a:prstGeom>
          <a:solidFill>
            <a:srgbClr val="4A8C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250" b="1">
                <a:solidFill>
                  <a:srgbClr val="F0F7F4"/>
                </a:solidFill>
                <a:latin typeface="Segoe UI"/>
              </a:rPr>
              <a:t>APPROVE</a:t>
            </a:r>
          </a:p>
          <a:p>
            <a:pPr algn="ctr">
              <a:spcAft>
                <a:spcPts val="100"/>
              </a:spcAft>
            </a:pPr>
            <a:r>
              <a:rPr sz="900" b="0">
                <a:solidFill>
                  <a:srgbClr val="C6DBD1"/>
                </a:solidFill>
                <a:latin typeface="Segoe UI"/>
              </a:rPr>
              <a:t>human decides</a:t>
            </a:r>
          </a:p>
        </p:txBody>
      </p:sp>
      <p:sp>
        <p:nvSpPr>
          <p:cNvPr id="18" name="Rounded Rectangle 17"/>
          <p:cNvSpPr/>
          <p:nvPr/>
        </p:nvSpPr>
        <p:spPr>
          <a:xfrm>
            <a:off x="2390160" y="3945636"/>
            <a:ext cx="1874519" cy="749808"/>
          </a:xfrm>
          <a:prstGeom prst="round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250" b="1">
                <a:solidFill>
                  <a:srgbClr val="0A100D"/>
                </a:solidFill>
                <a:latin typeface="Segoe UI"/>
              </a:rPr>
              <a:t>EXECUTE</a:t>
            </a:r>
          </a:p>
          <a:p>
            <a:pPr algn="ctr">
              <a:spcAft>
                <a:spcPts val="100"/>
              </a:spcAft>
            </a:pPr>
            <a:r>
              <a:rPr sz="900" b="0">
                <a:solidFill>
                  <a:srgbClr val="1E3329"/>
                </a:solidFill>
                <a:latin typeface="Segoe UI"/>
              </a:rPr>
              <a:t>apply the fix</a:t>
            </a:r>
          </a:p>
        </p:txBody>
      </p:sp>
      <p:sp>
        <p:nvSpPr>
          <p:cNvPr id="19" name="Rounded Rectangle 18"/>
          <p:cNvSpPr/>
          <p:nvPr/>
        </p:nvSpPr>
        <p:spPr>
          <a:xfrm>
            <a:off x="2390160" y="2345435"/>
            <a:ext cx="1874519" cy="749808"/>
          </a:xfrm>
          <a:prstGeom prst="roundRect">
            <a:avLst/>
          </a:prstGeom>
          <a:solidFill>
            <a:srgbClr val="4A8C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250" b="1">
                <a:solidFill>
                  <a:srgbClr val="F0F7F4"/>
                </a:solidFill>
                <a:latin typeface="Segoe UI"/>
              </a:rPr>
              <a:t>VERIFY</a:t>
            </a:r>
          </a:p>
          <a:p>
            <a:pPr algn="ctr">
              <a:spcAft>
                <a:spcPts val="100"/>
              </a:spcAft>
            </a:pPr>
            <a:r>
              <a:rPr sz="900" b="0">
                <a:solidFill>
                  <a:srgbClr val="C6DBD1"/>
                </a:solidFill>
                <a:latin typeface="Segoe UI"/>
              </a:rPr>
              <a:t>confirm it worked</a:t>
            </a:r>
          </a:p>
        </p:txBody>
      </p:sp>
      <p:sp>
        <p:nvSpPr>
          <p:cNvPr id="20" name="Rounded Rectangle 19"/>
          <p:cNvSpPr/>
          <p:nvPr/>
        </p:nvSpPr>
        <p:spPr>
          <a:xfrm>
            <a:off x="685800" y="5532120"/>
            <a:ext cx="10789920" cy="731520"/>
          </a:xfrm>
          <a:prstGeom prst="roundRect">
            <a:avLst/>
          </a:prstGeom>
          <a:solidFill>
            <a:srgbClr val="1A2520"/>
          </a:solidFill>
          <a:ln w="12700">
            <a:solidFill>
              <a:srgbClr val="313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5800" y="5532120"/>
            <a:ext cx="50292" cy="73152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660136"/>
            <a:ext cx="10424160" cy="548640"/>
          </a:xfrm>
          <a:prstGeom prst="rect">
            <a:avLst/>
          </a:prstGeom>
          <a:noFill/>
        </p:spPr>
        <p:txBody>
          <a:bodyPr wrap="square">
            <a:spAutoFit/>
          </a:bodyPr>
          <a:lstStyle/>
          <a:p>
            <a:pPr algn="l">
              <a:spcAft>
                <a:spcPts val="600"/>
              </a:spcAft>
            </a:pPr>
            <a:r>
              <a:rPr sz="1300" b="0">
                <a:solidFill>
                  <a:srgbClr val="F0F7F4"/>
                </a:solidFill>
                <a:latin typeface="Segoe UI"/>
              </a:rPr>
              <a:t>A feature that only raises an alert is incomplete. The loop is the architecture — not a description of one module.</a:t>
            </a:r>
          </a:p>
        </p:txBody>
      </p:sp>
      <p:sp>
        <p:nvSpPr>
          <p:cNvPr id="23" name="TextBox 22"/>
          <p:cNvSpPr txBox="1"/>
          <p:nvPr/>
        </p:nvSpPr>
        <p:spPr>
          <a:xfrm>
            <a:off x="10332720" y="6382512"/>
            <a:ext cx="1463040" cy="274320"/>
          </a:xfrm>
          <a:prstGeom prst="rect">
            <a:avLst/>
          </a:prstGeom>
          <a:noFill/>
        </p:spPr>
        <p:txBody>
          <a:bodyPr wrap="square">
            <a:spAutoFit/>
          </a:bodyPr>
          <a:lstStyle/>
          <a:p>
            <a:pPr algn="r">
              <a:spcAft>
                <a:spcPts val="600"/>
              </a:spcAft>
            </a:pPr>
            <a:r>
              <a:rPr sz="900" b="0">
                <a:solidFill>
                  <a:srgbClr val="6B716E"/>
                </a:solidFill>
                <a:latin typeface="Segoe UI"/>
              </a:rPr>
              <a:t>CortexPrime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10896"/>
            <a:ext cx="10058400" cy="274320"/>
          </a:xfrm>
          <a:prstGeom prst="rect">
            <a:avLst/>
          </a:prstGeom>
          <a:noFill/>
        </p:spPr>
        <p:txBody>
          <a:bodyPr wrap="square">
            <a:spAutoFit/>
          </a:bodyPr>
          <a:lstStyle/>
          <a:p>
            <a:pPr algn="l">
              <a:spcAft>
                <a:spcPts val="600"/>
              </a:spcAft>
            </a:pPr>
            <a:r>
              <a:rPr sz="1100" b="1">
                <a:solidFill>
                  <a:srgbClr val="82C0A4"/>
                </a:solidFill>
                <a:latin typeface="Segoe UI"/>
              </a:rPr>
              <a:t>DESIGN</a:t>
            </a:r>
          </a:p>
        </p:txBody>
      </p:sp>
      <p:sp>
        <p:nvSpPr>
          <p:cNvPr id="5" name="TextBox 4"/>
          <p:cNvSpPr txBox="1"/>
          <p:nvPr/>
        </p:nvSpPr>
        <p:spPr>
          <a:xfrm>
            <a:off x="640080" y="548640"/>
            <a:ext cx="10972800" cy="640080"/>
          </a:xfrm>
          <a:prstGeom prst="rect">
            <a:avLst/>
          </a:prstGeom>
          <a:noFill/>
        </p:spPr>
        <p:txBody>
          <a:bodyPr wrap="square">
            <a:spAutoFit/>
          </a:bodyPr>
          <a:lstStyle/>
          <a:p>
            <a:pPr algn="l">
              <a:spcAft>
                <a:spcPts val="600"/>
              </a:spcAft>
            </a:pPr>
            <a:r>
              <a:rPr sz="2700" b="1">
                <a:solidFill>
                  <a:srgbClr val="F0F7F4"/>
                </a:solidFill>
                <a:latin typeface="Segoe UI"/>
              </a:rPr>
              <a:t>System Architecture</a:t>
            </a:r>
          </a:p>
        </p:txBody>
      </p:sp>
      <p:sp>
        <p:nvSpPr>
          <p:cNvPr id="6" name="Rectangle 5"/>
          <p:cNvSpPr/>
          <p:nvPr/>
        </p:nvSpPr>
        <p:spPr>
          <a:xfrm>
            <a:off x="658368" y="1207008"/>
            <a:ext cx="1097280" cy="32004"/>
          </a:xfrm>
          <a:prstGeom prst="rect">
            <a:avLst/>
          </a:prstGeom>
          <a:solidFill>
            <a:srgbClr val="4A8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417320" y="1600200"/>
            <a:ext cx="8595360" cy="658368"/>
          </a:xfrm>
          <a:prstGeom prst="roundRect">
            <a:avLst/>
          </a:prstGeom>
          <a:solidFill>
            <a:srgbClr val="96CE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300" b="1">
                <a:solidFill>
                  <a:srgbClr val="0A100D"/>
                </a:solidFill>
                <a:latin typeface="Segoe UI"/>
              </a:rPr>
              <a:t>INTERFACES</a:t>
            </a:r>
          </a:p>
          <a:p>
            <a:pPr algn="ctr">
              <a:spcAft>
                <a:spcPts val="100"/>
              </a:spcAft>
            </a:pPr>
            <a:r>
              <a:rPr sz="1000" b="0">
                <a:solidFill>
                  <a:srgbClr val="1E3329"/>
                </a:solidFill>
                <a:latin typeface="Segoe UI"/>
              </a:rPr>
              <a:t>Next.js dashboard  ·  REST API  ·  WebSocket</a:t>
            </a:r>
          </a:p>
        </p:txBody>
      </p:sp>
      <p:sp>
        <p:nvSpPr>
          <p:cNvPr id="8" name="Rounded Rectangle 7"/>
          <p:cNvSpPr/>
          <p:nvPr/>
        </p:nvSpPr>
        <p:spPr>
          <a:xfrm>
            <a:off x="1417320" y="2368296"/>
            <a:ext cx="8595360" cy="658368"/>
          </a:xfrm>
          <a:prstGeom prst="round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300" b="1">
                <a:solidFill>
                  <a:srgbClr val="0A100D"/>
                </a:solidFill>
                <a:latin typeface="Segoe UI"/>
              </a:rPr>
              <a:t>BOUNDED CONTEXTS</a:t>
            </a:r>
          </a:p>
          <a:p>
            <a:pPr algn="ctr">
              <a:spcAft>
                <a:spcPts val="100"/>
              </a:spcAft>
            </a:pPr>
            <a:r>
              <a:rPr sz="1000" b="0">
                <a:solidFill>
                  <a:srgbClr val="1E3329"/>
                </a:solidFill>
                <a:latin typeface="Segoe UI"/>
              </a:rPr>
              <a:t>Mission · Evidence · Reasoning · Verification · Execution · Governance</a:t>
            </a:r>
          </a:p>
        </p:txBody>
      </p:sp>
      <p:sp>
        <p:nvSpPr>
          <p:cNvPr id="9" name="Rounded Rectangle 8"/>
          <p:cNvSpPr/>
          <p:nvPr/>
        </p:nvSpPr>
        <p:spPr>
          <a:xfrm>
            <a:off x="1417320" y="3136391"/>
            <a:ext cx="8595360" cy="658368"/>
          </a:xfrm>
          <a:prstGeom prst="roundRect">
            <a:avLst/>
          </a:prstGeom>
          <a:solidFill>
            <a:srgbClr val="4A8C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300" b="1">
                <a:solidFill>
                  <a:srgbClr val="F0F7F4"/>
                </a:solidFill>
                <a:latin typeface="Segoe UI"/>
              </a:rPr>
              <a:t>PLATFORM</a:t>
            </a:r>
          </a:p>
          <a:p>
            <a:pPr algn="ctr">
              <a:spcAft>
                <a:spcPts val="100"/>
              </a:spcAft>
            </a:pPr>
            <a:r>
              <a:rPr sz="1000" b="0">
                <a:solidFill>
                  <a:srgbClr val="C6DBD1"/>
                </a:solidFill>
                <a:latin typeface="Segoe UI"/>
              </a:rPr>
              <a:t>Identity · Hashing · Events · Audit · Context · Architecture Gate</a:t>
            </a:r>
          </a:p>
        </p:txBody>
      </p:sp>
      <p:sp>
        <p:nvSpPr>
          <p:cNvPr id="10" name="Rounded Rectangle 9"/>
          <p:cNvSpPr/>
          <p:nvPr/>
        </p:nvSpPr>
        <p:spPr>
          <a:xfrm>
            <a:off x="1417320" y="3904487"/>
            <a:ext cx="8595360" cy="658368"/>
          </a:xfrm>
          <a:prstGeom prst="roundRect">
            <a:avLst/>
          </a:prstGeom>
          <a:solidFill>
            <a:srgbClr val="3363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300" b="1">
                <a:solidFill>
                  <a:srgbClr val="F0F7F4"/>
                </a:solidFill>
                <a:latin typeface="Segoe UI"/>
              </a:rPr>
              <a:t>CONTRACTS</a:t>
            </a:r>
          </a:p>
          <a:p>
            <a:pPr algn="ctr">
              <a:spcAft>
                <a:spcPts val="100"/>
              </a:spcAft>
            </a:pPr>
            <a:r>
              <a:rPr sz="1000" b="0">
                <a:solidFill>
                  <a:srgbClr val="C6DBD1"/>
                </a:solidFill>
                <a:latin typeface="Segoe UI"/>
              </a:rPr>
              <a:t>Shared vocabulary — depends on nothing</a:t>
            </a:r>
          </a:p>
        </p:txBody>
      </p:sp>
      <p:sp>
        <p:nvSpPr>
          <p:cNvPr id="11" name="Rounded Rectangle 10"/>
          <p:cNvSpPr/>
          <p:nvPr/>
        </p:nvSpPr>
        <p:spPr>
          <a:xfrm>
            <a:off x="1417320" y="4672583"/>
            <a:ext cx="8595360" cy="658368"/>
          </a:xfrm>
          <a:prstGeom prst="roundRect">
            <a:avLst/>
          </a:prstGeom>
          <a:solidFill>
            <a:srgbClr val="2545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300" b="1">
                <a:solidFill>
                  <a:srgbClr val="F0F7F4"/>
                </a:solidFill>
                <a:latin typeface="Segoe UI"/>
              </a:rPr>
              <a:t>CONNECTORS</a:t>
            </a:r>
          </a:p>
          <a:p>
            <a:pPr algn="ctr">
              <a:spcAft>
                <a:spcPts val="100"/>
              </a:spcAft>
            </a:pPr>
            <a:r>
              <a:rPr sz="1000" b="0">
                <a:solidFill>
                  <a:srgbClr val="C6DBD1"/>
                </a:solidFill>
                <a:latin typeface="Segoe UI"/>
              </a:rPr>
              <a:t>Docker · GitHub · GitLab · Jira · Prometheus · PostgreSQL</a:t>
            </a:r>
          </a:p>
        </p:txBody>
      </p:sp>
      <p:cxnSp>
        <p:nvCxnSpPr>
          <p:cNvPr id="12" name="Connector 11"/>
          <p:cNvCxnSpPr/>
          <p:nvPr/>
        </p:nvCxnSpPr>
        <p:spPr>
          <a:xfrm>
            <a:off x="10378440" y="1737360"/>
            <a:ext cx="0" cy="3502152"/>
          </a:xfrm>
          <a:prstGeom prst="line">
            <a:avLst/>
          </a:prstGeom>
          <a:ln w="28575">
            <a:solidFill>
              <a:srgbClr val="82C0A4"/>
            </a:solidFill>
            <a:tailEnd type="triangle" w="med" h="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515600" y="3054096"/>
            <a:ext cx="1554480" cy="822960"/>
          </a:xfrm>
          <a:prstGeom prst="rect">
            <a:avLst/>
          </a:prstGeom>
          <a:noFill/>
        </p:spPr>
        <p:txBody>
          <a:bodyPr wrap="square" lIns="36576" rIns="36576" tIns="18288" bIns="18288" anchor="ctr">
            <a:spAutoFit/>
          </a:bodyPr>
          <a:lstStyle/>
          <a:p>
            <a:pPr algn="l">
              <a:spcAft>
                <a:spcPts val="100"/>
              </a:spcAft>
            </a:pPr>
            <a:r>
              <a:rPr sz="1050" b="1">
                <a:solidFill>
                  <a:srgbClr val="82C0A4"/>
                </a:solidFill>
                <a:latin typeface="Segoe UI"/>
              </a:rPr>
              <a:t>depends</a:t>
            </a:r>
          </a:p>
          <a:p>
            <a:pPr algn="l">
              <a:spcAft>
                <a:spcPts val="100"/>
              </a:spcAft>
            </a:pPr>
            <a:r>
              <a:rPr sz="1050" b="1">
                <a:solidFill>
                  <a:srgbClr val="82C0A4"/>
                </a:solidFill>
                <a:latin typeface="Segoe UI"/>
              </a:rPr>
              <a:t>downward</a:t>
            </a:r>
          </a:p>
          <a:p>
            <a:pPr algn="l">
              <a:spcAft>
                <a:spcPts val="100"/>
              </a:spcAft>
            </a:pPr>
            <a:r>
              <a:rPr sz="1050" b="1">
                <a:solidFill>
                  <a:srgbClr val="82C0A4"/>
                </a:solidFill>
                <a:latin typeface="Segoe UI"/>
              </a:rPr>
              <a:t>only</a:t>
            </a:r>
          </a:p>
        </p:txBody>
      </p:sp>
      <p:sp>
        <p:nvSpPr>
          <p:cNvPr id="14" name="Rounded Rectangle 13"/>
          <p:cNvSpPr/>
          <p:nvPr/>
        </p:nvSpPr>
        <p:spPr>
          <a:xfrm>
            <a:off x="685800" y="5532120"/>
            <a:ext cx="10789920" cy="731520"/>
          </a:xfrm>
          <a:prstGeom prst="roundRect">
            <a:avLst/>
          </a:prstGeom>
          <a:solidFill>
            <a:srgbClr val="1A2520"/>
          </a:solidFill>
          <a:ln w="12700">
            <a:solidFill>
              <a:srgbClr val="313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5532120"/>
            <a:ext cx="50292" cy="73152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660136"/>
            <a:ext cx="10424160" cy="548640"/>
          </a:xfrm>
          <a:prstGeom prst="rect">
            <a:avLst/>
          </a:prstGeom>
          <a:noFill/>
        </p:spPr>
        <p:txBody>
          <a:bodyPr wrap="square">
            <a:spAutoFit/>
          </a:bodyPr>
          <a:lstStyle/>
          <a:p>
            <a:pPr algn="l">
              <a:spcAft>
                <a:spcPts val="600"/>
              </a:spcAft>
            </a:pPr>
            <a:r>
              <a:rPr sz="1300" b="0">
                <a:solidFill>
                  <a:srgbClr val="F0F7F4"/>
                </a:solidFill>
                <a:latin typeface="Segoe UI"/>
              </a:rPr>
              <a:t>Dependency direction is enforced automatically — a violation fails the build, not a code review.</a:t>
            </a:r>
          </a:p>
        </p:txBody>
      </p:sp>
      <p:sp>
        <p:nvSpPr>
          <p:cNvPr id="17" name="TextBox 16"/>
          <p:cNvSpPr txBox="1"/>
          <p:nvPr/>
        </p:nvSpPr>
        <p:spPr>
          <a:xfrm>
            <a:off x="10332720" y="6382512"/>
            <a:ext cx="1463040" cy="274320"/>
          </a:xfrm>
          <a:prstGeom prst="rect">
            <a:avLst/>
          </a:prstGeom>
          <a:noFill/>
        </p:spPr>
        <p:txBody>
          <a:bodyPr wrap="square">
            <a:spAutoFit/>
          </a:bodyPr>
          <a:lstStyle/>
          <a:p>
            <a:pPr algn="r">
              <a:spcAft>
                <a:spcPts val="600"/>
              </a:spcAft>
            </a:pPr>
            <a:r>
              <a:rPr sz="900" b="0">
                <a:solidFill>
                  <a:srgbClr val="6B716E"/>
                </a:solidFill>
                <a:latin typeface="Segoe UI"/>
              </a:rPr>
              <a:t>CortexPrime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10896"/>
            <a:ext cx="10058400" cy="274320"/>
          </a:xfrm>
          <a:prstGeom prst="rect">
            <a:avLst/>
          </a:prstGeom>
          <a:noFill/>
        </p:spPr>
        <p:txBody>
          <a:bodyPr wrap="square">
            <a:spAutoFit/>
          </a:bodyPr>
          <a:lstStyle/>
          <a:p>
            <a:pPr algn="l">
              <a:spcAft>
                <a:spcPts val="600"/>
              </a:spcAft>
            </a:pPr>
            <a:r>
              <a:rPr sz="1100" b="1">
                <a:solidFill>
                  <a:srgbClr val="82C0A4"/>
                </a:solidFill>
                <a:latin typeface="Segoe UI"/>
              </a:rPr>
              <a:t>HOW IT WORKS</a:t>
            </a:r>
          </a:p>
        </p:txBody>
      </p:sp>
      <p:sp>
        <p:nvSpPr>
          <p:cNvPr id="5" name="TextBox 4"/>
          <p:cNvSpPr txBox="1"/>
          <p:nvPr/>
        </p:nvSpPr>
        <p:spPr>
          <a:xfrm>
            <a:off x="640080" y="548640"/>
            <a:ext cx="10972800" cy="640080"/>
          </a:xfrm>
          <a:prstGeom prst="rect">
            <a:avLst/>
          </a:prstGeom>
          <a:noFill/>
        </p:spPr>
        <p:txBody>
          <a:bodyPr wrap="square">
            <a:spAutoFit/>
          </a:bodyPr>
          <a:lstStyle/>
          <a:p>
            <a:pPr algn="l">
              <a:spcAft>
                <a:spcPts val="600"/>
              </a:spcAft>
            </a:pPr>
            <a:r>
              <a:rPr sz="2700" b="1">
                <a:solidFill>
                  <a:srgbClr val="F0F7F4"/>
                </a:solidFill>
                <a:latin typeface="Segoe UI"/>
              </a:rPr>
              <a:t>From Detection to Verified Fix</a:t>
            </a:r>
          </a:p>
        </p:txBody>
      </p:sp>
      <p:sp>
        <p:nvSpPr>
          <p:cNvPr id="6" name="Rectangle 5"/>
          <p:cNvSpPr/>
          <p:nvPr/>
        </p:nvSpPr>
        <p:spPr>
          <a:xfrm>
            <a:off x="658368" y="1207008"/>
            <a:ext cx="1097280" cy="32004"/>
          </a:xfrm>
          <a:prstGeom prst="rect">
            <a:avLst/>
          </a:prstGeom>
          <a:solidFill>
            <a:srgbClr val="4A8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116068" y="1371600"/>
            <a:ext cx="1965960" cy="658368"/>
          </a:xfrm>
          <a:prstGeom prst="ellipse">
            <a:avLst/>
          </a:prstGeom>
          <a:solidFill>
            <a:srgbClr val="38B8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100" b="1">
                <a:solidFill>
                  <a:srgbClr val="0A100D"/>
                </a:solidFill>
                <a:latin typeface="Segoe UI"/>
              </a:rPr>
              <a:t>PROBLEM DETECTED</a:t>
            </a:r>
          </a:p>
        </p:txBody>
      </p:sp>
      <p:cxnSp>
        <p:nvCxnSpPr>
          <p:cNvPr id="8" name="Connector 7"/>
          <p:cNvCxnSpPr/>
          <p:nvPr/>
        </p:nvCxnSpPr>
        <p:spPr>
          <a:xfrm>
            <a:off x="6099048" y="2029967"/>
            <a:ext cx="0" cy="210312"/>
          </a:xfrm>
          <a:prstGeom prst="line">
            <a:avLst/>
          </a:prstGeom>
          <a:ln w="22225">
            <a:solidFill>
              <a:srgbClr val="82C0A4"/>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116068" y="2240279"/>
            <a:ext cx="1965960" cy="658368"/>
          </a:xfrm>
          <a:prstGeom prst="roundRect">
            <a:avLst/>
          </a:prstGeom>
          <a:solidFill>
            <a:srgbClr val="4A8C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150" b="1">
                <a:solidFill>
                  <a:srgbClr val="F0F7F4"/>
                </a:solidFill>
                <a:latin typeface="Segoe UI"/>
              </a:rPr>
              <a:t>Gather evidence</a:t>
            </a:r>
          </a:p>
          <a:p>
            <a:pPr algn="ctr">
              <a:spcAft>
                <a:spcPts val="100"/>
              </a:spcAft>
            </a:pPr>
            <a:r>
              <a:rPr sz="850" b="0">
                <a:solidFill>
                  <a:srgbClr val="A6ADAA"/>
                </a:solidFill>
                <a:latin typeface="Segoe UI"/>
              </a:rPr>
              <a:t>logs · metrics · history</a:t>
            </a:r>
          </a:p>
        </p:txBody>
      </p:sp>
      <p:cxnSp>
        <p:nvCxnSpPr>
          <p:cNvPr id="10" name="Connector 9"/>
          <p:cNvCxnSpPr/>
          <p:nvPr/>
        </p:nvCxnSpPr>
        <p:spPr>
          <a:xfrm>
            <a:off x="6099048" y="2898647"/>
            <a:ext cx="0" cy="210313"/>
          </a:xfrm>
          <a:prstGeom prst="line">
            <a:avLst/>
          </a:prstGeom>
          <a:ln w="22225">
            <a:solidFill>
              <a:srgbClr val="82C0A4"/>
            </a:solidFill>
            <a:tailEnd type="triangle" w="med" h="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116068" y="3108960"/>
            <a:ext cx="1965960" cy="658368"/>
          </a:xfrm>
          <a:prstGeom prst="roundRect">
            <a:avLst/>
          </a:prstGeom>
          <a:solidFill>
            <a:srgbClr val="4A8C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150" b="1">
                <a:solidFill>
                  <a:srgbClr val="F0F7F4"/>
                </a:solidFill>
                <a:latin typeface="Segoe UI"/>
              </a:rPr>
              <a:t>Identify root cause</a:t>
            </a:r>
          </a:p>
          <a:p>
            <a:pPr algn="ctr">
              <a:spcAft>
                <a:spcPts val="100"/>
              </a:spcAft>
            </a:pPr>
            <a:r>
              <a:rPr sz="850" b="0">
                <a:solidFill>
                  <a:srgbClr val="A6ADAA"/>
                </a:solidFill>
                <a:latin typeface="Segoe UI"/>
              </a:rPr>
              <a:t>with citations</a:t>
            </a:r>
          </a:p>
        </p:txBody>
      </p:sp>
      <p:cxnSp>
        <p:nvCxnSpPr>
          <p:cNvPr id="12" name="Connector 11"/>
          <p:cNvCxnSpPr/>
          <p:nvPr/>
        </p:nvCxnSpPr>
        <p:spPr>
          <a:xfrm>
            <a:off x="6099048" y="3767328"/>
            <a:ext cx="0" cy="246888"/>
          </a:xfrm>
          <a:prstGeom prst="line">
            <a:avLst/>
          </a:prstGeom>
          <a:ln w="22225">
            <a:solidFill>
              <a:srgbClr val="82C0A4"/>
            </a:solidFill>
            <a:tailEnd type="triangle" w="med" h="med"/>
          </a:ln>
        </p:spPr>
        <p:style>
          <a:lnRef idx="2">
            <a:schemeClr val="accent1"/>
          </a:lnRef>
          <a:fillRef idx="0">
            <a:schemeClr val="accent1"/>
          </a:fillRef>
          <a:effectRef idx="1">
            <a:schemeClr val="accent1"/>
          </a:effectRef>
          <a:fontRef idx="minor">
            <a:schemeClr val="tx1"/>
          </a:fontRef>
        </p:style>
      </p:cxnSp>
      <p:sp>
        <p:nvSpPr>
          <p:cNvPr id="13" name="Diamond 12"/>
          <p:cNvSpPr/>
          <p:nvPr/>
        </p:nvSpPr>
        <p:spPr>
          <a:xfrm>
            <a:off x="4956048" y="4014216"/>
            <a:ext cx="2286000" cy="950976"/>
          </a:xfrm>
          <a:prstGeom prst="diamond">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050" b="1">
                <a:solidFill>
                  <a:srgbClr val="0A100D"/>
                </a:solidFill>
                <a:latin typeface="Segoe UI"/>
              </a:rPr>
              <a:t>Risk above LOW?</a:t>
            </a:r>
          </a:p>
        </p:txBody>
      </p:sp>
      <p:cxnSp>
        <p:nvCxnSpPr>
          <p:cNvPr id="14" name="Connector 13"/>
          <p:cNvCxnSpPr/>
          <p:nvPr/>
        </p:nvCxnSpPr>
        <p:spPr>
          <a:xfrm>
            <a:off x="7242048" y="4489704"/>
            <a:ext cx="1074420" cy="0"/>
          </a:xfrm>
          <a:prstGeom prst="line">
            <a:avLst/>
          </a:prstGeom>
          <a:ln w="22225">
            <a:solidFill>
              <a:srgbClr val="F87171"/>
            </a:solidFill>
            <a:tailEnd type="triangle" w="med" h="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333488" y="4105656"/>
            <a:ext cx="1280160" cy="274320"/>
          </a:xfrm>
          <a:prstGeom prst="rect">
            <a:avLst/>
          </a:prstGeom>
          <a:noFill/>
        </p:spPr>
        <p:txBody>
          <a:bodyPr wrap="square" lIns="36576" rIns="36576" tIns="18288" bIns="18288" anchor="ctr">
            <a:spAutoFit/>
          </a:bodyPr>
          <a:lstStyle/>
          <a:p>
            <a:pPr algn="l">
              <a:spcAft>
                <a:spcPts val="100"/>
              </a:spcAft>
            </a:pPr>
            <a:r>
              <a:rPr sz="1000" b="1">
                <a:solidFill>
                  <a:srgbClr val="F87171"/>
                </a:solidFill>
                <a:latin typeface="Segoe UI"/>
              </a:rPr>
              <a:t>YES</a:t>
            </a:r>
          </a:p>
        </p:txBody>
      </p:sp>
      <p:sp>
        <p:nvSpPr>
          <p:cNvPr id="16" name="Rounded Rectangle 15"/>
          <p:cNvSpPr/>
          <p:nvPr/>
        </p:nvSpPr>
        <p:spPr>
          <a:xfrm>
            <a:off x="8316468" y="4160520"/>
            <a:ext cx="1965960" cy="658368"/>
          </a:xfrm>
          <a:prstGeom prst="round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100" b="1">
                <a:solidFill>
                  <a:srgbClr val="0A100D"/>
                </a:solidFill>
                <a:latin typeface="Segoe UI"/>
              </a:rPr>
              <a:t>Wait for human</a:t>
            </a:r>
          </a:p>
          <a:p>
            <a:pPr algn="ctr">
              <a:spcAft>
                <a:spcPts val="100"/>
              </a:spcAft>
            </a:pPr>
            <a:r>
              <a:rPr sz="850" b="0">
                <a:solidFill>
                  <a:srgbClr val="0A100D"/>
                </a:solidFill>
                <a:latin typeface="Segoe UI"/>
              </a:rPr>
              <a:t>approval required</a:t>
            </a:r>
          </a:p>
        </p:txBody>
      </p:sp>
      <p:cxnSp>
        <p:nvCxnSpPr>
          <p:cNvPr id="17" name="Connector 16"/>
          <p:cNvCxnSpPr/>
          <p:nvPr/>
        </p:nvCxnSpPr>
        <p:spPr>
          <a:xfrm flipH="1">
            <a:off x="3881628" y="4489704"/>
            <a:ext cx="1074420" cy="0"/>
          </a:xfrm>
          <a:prstGeom prst="line">
            <a:avLst/>
          </a:prstGeom>
          <a:ln w="22225">
            <a:solidFill>
              <a:srgbClr val="38B88A"/>
            </a:solidFill>
            <a:tailEnd type="triangle" w="med" h="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721608" y="4105656"/>
            <a:ext cx="1097280" cy="274320"/>
          </a:xfrm>
          <a:prstGeom prst="rect">
            <a:avLst/>
          </a:prstGeom>
          <a:noFill/>
        </p:spPr>
        <p:txBody>
          <a:bodyPr wrap="square" lIns="36576" rIns="36576" tIns="18288" bIns="18288" anchor="ctr">
            <a:spAutoFit/>
          </a:bodyPr>
          <a:lstStyle/>
          <a:p>
            <a:pPr algn="r">
              <a:spcAft>
                <a:spcPts val="100"/>
              </a:spcAft>
            </a:pPr>
            <a:r>
              <a:rPr sz="1000" b="1">
                <a:solidFill>
                  <a:srgbClr val="38B88A"/>
                </a:solidFill>
                <a:latin typeface="Segoe UI"/>
              </a:rPr>
              <a:t>NO</a:t>
            </a:r>
          </a:p>
        </p:txBody>
      </p:sp>
      <p:sp>
        <p:nvSpPr>
          <p:cNvPr id="19" name="Rounded Rectangle 18"/>
          <p:cNvSpPr/>
          <p:nvPr/>
        </p:nvSpPr>
        <p:spPr>
          <a:xfrm>
            <a:off x="1915667" y="4160520"/>
            <a:ext cx="1965960" cy="658368"/>
          </a:xfrm>
          <a:prstGeom prst="roundRect">
            <a:avLst/>
          </a:prstGeom>
          <a:solidFill>
            <a:srgbClr val="38B8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100" b="1">
                <a:solidFill>
                  <a:srgbClr val="0A100D"/>
                </a:solidFill>
                <a:latin typeface="Segoe UI"/>
              </a:rPr>
              <a:t>Auto-approve</a:t>
            </a:r>
          </a:p>
          <a:p>
            <a:pPr algn="ctr">
              <a:spcAft>
                <a:spcPts val="100"/>
              </a:spcAft>
            </a:pPr>
            <a:r>
              <a:rPr sz="850" b="0">
                <a:solidFill>
                  <a:srgbClr val="0A100D"/>
                </a:solidFill>
                <a:latin typeface="Segoe UI"/>
              </a:rPr>
              <a:t>low risk only</a:t>
            </a:r>
          </a:p>
        </p:txBody>
      </p:sp>
      <p:sp>
        <p:nvSpPr>
          <p:cNvPr id="20" name="Rounded Rectangle 19"/>
          <p:cNvSpPr/>
          <p:nvPr/>
        </p:nvSpPr>
        <p:spPr>
          <a:xfrm>
            <a:off x="5116068" y="5212080"/>
            <a:ext cx="1965960" cy="658368"/>
          </a:xfrm>
          <a:prstGeom prst="round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150" b="1">
                <a:solidFill>
                  <a:srgbClr val="0A100D"/>
                </a:solidFill>
                <a:latin typeface="Segoe UI"/>
              </a:rPr>
              <a:t>EXECUTE THE FIX</a:t>
            </a:r>
          </a:p>
          <a:p>
            <a:pPr algn="ctr">
              <a:spcAft>
                <a:spcPts val="100"/>
              </a:spcAft>
            </a:pPr>
            <a:r>
              <a:rPr sz="850" b="0">
                <a:solidFill>
                  <a:srgbClr val="1E3329"/>
                </a:solidFill>
                <a:latin typeface="Segoe UI"/>
              </a:rPr>
              <a:t>digest verified first</a:t>
            </a:r>
          </a:p>
        </p:txBody>
      </p:sp>
      <p:cxnSp>
        <p:nvCxnSpPr>
          <p:cNvPr id="21" name="Connector 20"/>
          <p:cNvCxnSpPr/>
          <p:nvPr/>
        </p:nvCxnSpPr>
        <p:spPr>
          <a:xfrm flipH="1">
            <a:off x="7082028" y="4965192"/>
            <a:ext cx="2217420" cy="576072"/>
          </a:xfrm>
          <a:prstGeom prst="line">
            <a:avLst/>
          </a:prstGeom>
          <a:ln w="22225">
            <a:solidFill>
              <a:srgbClr val="F87171"/>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898648" y="4965192"/>
            <a:ext cx="2217420" cy="576072"/>
          </a:xfrm>
          <a:prstGeom prst="line">
            <a:avLst/>
          </a:prstGeom>
          <a:ln w="22225">
            <a:solidFill>
              <a:srgbClr val="38B88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099048" y="5870448"/>
            <a:ext cx="0" cy="173736"/>
          </a:xfrm>
          <a:prstGeom prst="line">
            <a:avLst/>
          </a:prstGeom>
          <a:ln w="22225">
            <a:solidFill>
              <a:srgbClr val="82C0A4"/>
            </a:solidFill>
            <a:tailEnd type="triangle" w="med" h="med"/>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4818888" y="6044184"/>
            <a:ext cx="2560320" cy="566928"/>
          </a:xfrm>
          <a:prstGeom prst="ellipse">
            <a:avLst/>
          </a:prstGeom>
          <a:solidFill>
            <a:srgbClr val="38B8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100" b="1">
                <a:solidFill>
                  <a:srgbClr val="0A100D"/>
                </a:solidFill>
                <a:latin typeface="Segoe UI"/>
              </a:rPr>
              <a:t>VERIFY &amp; AUDIT</a:t>
            </a:r>
          </a:p>
        </p:txBody>
      </p:sp>
      <p:sp>
        <p:nvSpPr>
          <p:cNvPr id="25" name="TextBox 24"/>
          <p:cNvSpPr txBox="1"/>
          <p:nvPr/>
        </p:nvSpPr>
        <p:spPr>
          <a:xfrm>
            <a:off x="10332720" y="6382512"/>
            <a:ext cx="1463040" cy="274320"/>
          </a:xfrm>
          <a:prstGeom prst="rect">
            <a:avLst/>
          </a:prstGeom>
          <a:noFill/>
        </p:spPr>
        <p:txBody>
          <a:bodyPr wrap="square">
            <a:spAutoFit/>
          </a:bodyPr>
          <a:lstStyle/>
          <a:p>
            <a:pPr algn="r">
              <a:spcAft>
                <a:spcPts val="600"/>
              </a:spcAft>
            </a:pPr>
            <a:r>
              <a:rPr sz="900" b="0">
                <a:solidFill>
                  <a:srgbClr val="6B716E"/>
                </a:solidFill>
                <a:latin typeface="Segoe UI"/>
              </a:rPr>
              <a:t>CortexPrime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10896"/>
            <a:ext cx="10058400" cy="274320"/>
          </a:xfrm>
          <a:prstGeom prst="rect">
            <a:avLst/>
          </a:prstGeom>
          <a:noFill/>
        </p:spPr>
        <p:txBody>
          <a:bodyPr wrap="square">
            <a:spAutoFit/>
          </a:bodyPr>
          <a:lstStyle/>
          <a:p>
            <a:pPr algn="l">
              <a:spcAft>
                <a:spcPts val="600"/>
              </a:spcAft>
            </a:pPr>
            <a:r>
              <a:rPr sz="1100" b="1">
                <a:solidFill>
                  <a:srgbClr val="82C0A4"/>
                </a:solidFill>
                <a:latin typeface="Segoe UI"/>
              </a:rPr>
              <a:t>KEY CONTRIBUTION</a:t>
            </a:r>
          </a:p>
        </p:txBody>
      </p:sp>
      <p:sp>
        <p:nvSpPr>
          <p:cNvPr id="5" name="TextBox 4"/>
          <p:cNvSpPr txBox="1"/>
          <p:nvPr/>
        </p:nvSpPr>
        <p:spPr>
          <a:xfrm>
            <a:off x="640080" y="548640"/>
            <a:ext cx="10972800" cy="640080"/>
          </a:xfrm>
          <a:prstGeom prst="rect">
            <a:avLst/>
          </a:prstGeom>
          <a:noFill/>
        </p:spPr>
        <p:txBody>
          <a:bodyPr wrap="square">
            <a:spAutoFit/>
          </a:bodyPr>
          <a:lstStyle/>
          <a:p>
            <a:pPr algn="l">
              <a:spcAft>
                <a:spcPts val="600"/>
              </a:spcAft>
            </a:pPr>
            <a:r>
              <a:rPr sz="2700" b="1">
                <a:solidFill>
                  <a:srgbClr val="F0F7F4"/>
                </a:solidFill>
                <a:latin typeface="Segoe UI"/>
              </a:rPr>
              <a:t>The Approved Action Is the Executed Action</a:t>
            </a:r>
          </a:p>
        </p:txBody>
      </p:sp>
      <p:sp>
        <p:nvSpPr>
          <p:cNvPr id="6" name="Rectangle 5"/>
          <p:cNvSpPr/>
          <p:nvPr/>
        </p:nvSpPr>
        <p:spPr>
          <a:xfrm>
            <a:off x="658368" y="1207008"/>
            <a:ext cx="1097280" cy="32004"/>
          </a:xfrm>
          <a:prstGeom prst="rect">
            <a:avLst/>
          </a:prstGeom>
          <a:solidFill>
            <a:srgbClr val="4A8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481328"/>
            <a:ext cx="1856780" cy="804672"/>
          </a:xfrm>
          <a:prstGeom prst="round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627632"/>
            <a:ext cx="1710476" cy="804672"/>
          </a:xfrm>
          <a:prstGeom prst="rect">
            <a:avLst/>
          </a:prstGeom>
          <a:noFill/>
        </p:spPr>
        <p:txBody>
          <a:bodyPr wrap="square">
            <a:spAutoFit/>
          </a:bodyPr>
          <a:lstStyle/>
          <a:p>
            <a:pPr algn="ctr">
              <a:spcAft>
                <a:spcPts val="200"/>
              </a:spcAft>
            </a:pPr>
            <a:r>
              <a:rPr sz="1300" b="1">
                <a:solidFill>
                  <a:srgbClr val="0A100D"/>
                </a:solidFill>
                <a:latin typeface="Segoe UI"/>
              </a:rPr>
              <a:t>STASH</a:t>
            </a:r>
          </a:p>
          <a:p>
            <a:pPr algn="ctr">
              <a:spcAft>
                <a:spcPts val="200"/>
              </a:spcAft>
            </a:pPr>
            <a:r>
              <a:rPr sz="950" b="0">
                <a:solidFill>
                  <a:srgbClr val="0A100D"/>
                </a:solidFill>
                <a:latin typeface="Segoe UI"/>
              </a:rPr>
              <a:t>action + digest</a:t>
            </a:r>
          </a:p>
        </p:txBody>
      </p:sp>
      <p:sp>
        <p:nvSpPr>
          <p:cNvPr id="9" name="TextBox 8"/>
          <p:cNvSpPr txBox="1"/>
          <p:nvPr/>
        </p:nvSpPr>
        <p:spPr>
          <a:xfrm>
            <a:off x="2542580" y="1700784"/>
            <a:ext cx="384048" cy="457200"/>
          </a:xfrm>
          <a:prstGeom prst="rect">
            <a:avLst/>
          </a:prstGeom>
          <a:noFill/>
        </p:spPr>
        <p:txBody>
          <a:bodyPr wrap="square">
            <a:spAutoFit/>
          </a:bodyPr>
          <a:lstStyle/>
          <a:p>
            <a:pPr algn="ctr">
              <a:spcAft>
                <a:spcPts val="600"/>
              </a:spcAft>
            </a:pPr>
            <a:r>
              <a:rPr sz="2000" b="0">
                <a:solidFill>
                  <a:srgbClr val="82C0A4"/>
                </a:solidFill>
                <a:latin typeface="Segoe UI"/>
              </a:rPr>
              <a:t>→</a:t>
            </a:r>
          </a:p>
        </p:txBody>
      </p:sp>
      <p:sp>
        <p:nvSpPr>
          <p:cNvPr id="10" name="Rounded Rectangle 9"/>
          <p:cNvSpPr/>
          <p:nvPr/>
        </p:nvSpPr>
        <p:spPr>
          <a:xfrm>
            <a:off x="2926628" y="1481328"/>
            <a:ext cx="1856780" cy="804672"/>
          </a:xfrm>
          <a:prstGeom prst="roundRect">
            <a:avLst/>
          </a:prstGeom>
          <a:solidFill>
            <a:srgbClr val="4A8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99780" y="1627632"/>
            <a:ext cx="1710476" cy="804672"/>
          </a:xfrm>
          <a:prstGeom prst="rect">
            <a:avLst/>
          </a:prstGeom>
          <a:noFill/>
        </p:spPr>
        <p:txBody>
          <a:bodyPr wrap="square">
            <a:spAutoFit/>
          </a:bodyPr>
          <a:lstStyle/>
          <a:p>
            <a:pPr algn="ctr">
              <a:spcAft>
                <a:spcPts val="200"/>
              </a:spcAft>
            </a:pPr>
            <a:r>
              <a:rPr sz="1300" b="1">
                <a:solidFill>
                  <a:srgbClr val="F0F7F4"/>
                </a:solidFill>
                <a:latin typeface="Segoe UI"/>
              </a:rPr>
              <a:t>RECORD</a:t>
            </a:r>
          </a:p>
          <a:p>
            <a:pPr algn="ctr">
              <a:spcAft>
                <a:spcPts val="200"/>
              </a:spcAft>
            </a:pPr>
            <a:r>
              <a:rPr sz="950" b="0">
                <a:solidFill>
                  <a:srgbClr val="F0F7F4"/>
                </a:solidFill>
                <a:latin typeface="Segoe UI"/>
              </a:rPr>
              <a:t>digest stored separately</a:t>
            </a:r>
          </a:p>
        </p:txBody>
      </p:sp>
      <p:sp>
        <p:nvSpPr>
          <p:cNvPr id="12" name="TextBox 11"/>
          <p:cNvSpPr txBox="1"/>
          <p:nvPr/>
        </p:nvSpPr>
        <p:spPr>
          <a:xfrm>
            <a:off x="4783408" y="1700784"/>
            <a:ext cx="384048" cy="457200"/>
          </a:xfrm>
          <a:prstGeom prst="rect">
            <a:avLst/>
          </a:prstGeom>
          <a:noFill/>
        </p:spPr>
        <p:txBody>
          <a:bodyPr wrap="square">
            <a:spAutoFit/>
          </a:bodyPr>
          <a:lstStyle/>
          <a:p>
            <a:pPr algn="ctr">
              <a:spcAft>
                <a:spcPts val="600"/>
              </a:spcAft>
            </a:pPr>
            <a:r>
              <a:rPr sz="2000" b="0">
                <a:solidFill>
                  <a:srgbClr val="82C0A4"/>
                </a:solidFill>
                <a:latin typeface="Segoe UI"/>
              </a:rPr>
              <a:t>→</a:t>
            </a:r>
          </a:p>
        </p:txBody>
      </p:sp>
      <p:sp>
        <p:nvSpPr>
          <p:cNvPr id="13" name="Rounded Rectangle 12"/>
          <p:cNvSpPr/>
          <p:nvPr/>
        </p:nvSpPr>
        <p:spPr>
          <a:xfrm>
            <a:off x="5167457" y="1481328"/>
            <a:ext cx="1856780" cy="804672"/>
          </a:xfrm>
          <a:prstGeom prst="round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0609" y="1627632"/>
            <a:ext cx="1710476" cy="804672"/>
          </a:xfrm>
          <a:prstGeom prst="rect">
            <a:avLst/>
          </a:prstGeom>
          <a:noFill/>
        </p:spPr>
        <p:txBody>
          <a:bodyPr wrap="square">
            <a:spAutoFit/>
          </a:bodyPr>
          <a:lstStyle/>
          <a:p>
            <a:pPr algn="ctr">
              <a:spcAft>
                <a:spcPts val="200"/>
              </a:spcAft>
            </a:pPr>
            <a:r>
              <a:rPr sz="1300" b="1">
                <a:solidFill>
                  <a:srgbClr val="0A100D"/>
                </a:solidFill>
                <a:latin typeface="Segoe UI"/>
              </a:rPr>
              <a:t>APPROVE</a:t>
            </a:r>
          </a:p>
          <a:p>
            <a:pPr algn="ctr">
              <a:spcAft>
                <a:spcPts val="200"/>
              </a:spcAft>
            </a:pPr>
            <a:r>
              <a:rPr sz="950" b="0">
                <a:solidFill>
                  <a:srgbClr val="0A100D"/>
                </a:solidFill>
                <a:latin typeface="Segoe UI"/>
              </a:rPr>
              <a:t>human signs it</a:t>
            </a:r>
          </a:p>
        </p:txBody>
      </p:sp>
      <p:sp>
        <p:nvSpPr>
          <p:cNvPr id="15" name="TextBox 14"/>
          <p:cNvSpPr txBox="1"/>
          <p:nvPr/>
        </p:nvSpPr>
        <p:spPr>
          <a:xfrm>
            <a:off x="7024237" y="1700784"/>
            <a:ext cx="384048" cy="457200"/>
          </a:xfrm>
          <a:prstGeom prst="rect">
            <a:avLst/>
          </a:prstGeom>
          <a:noFill/>
        </p:spPr>
        <p:txBody>
          <a:bodyPr wrap="square">
            <a:spAutoFit/>
          </a:bodyPr>
          <a:lstStyle/>
          <a:p>
            <a:pPr algn="ctr">
              <a:spcAft>
                <a:spcPts val="600"/>
              </a:spcAft>
            </a:pPr>
            <a:r>
              <a:rPr sz="2000" b="0">
                <a:solidFill>
                  <a:srgbClr val="82C0A4"/>
                </a:solidFill>
                <a:latin typeface="Segoe UI"/>
              </a:rPr>
              <a:t>→</a:t>
            </a:r>
          </a:p>
        </p:txBody>
      </p:sp>
      <p:sp>
        <p:nvSpPr>
          <p:cNvPr id="16" name="Rounded Rectangle 15"/>
          <p:cNvSpPr/>
          <p:nvPr/>
        </p:nvSpPr>
        <p:spPr>
          <a:xfrm>
            <a:off x="7408285" y="1481328"/>
            <a:ext cx="1856780" cy="804672"/>
          </a:xfrm>
          <a:prstGeom prst="roundRect">
            <a:avLst/>
          </a:prstGeom>
          <a:solidFill>
            <a:srgbClr val="4A8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81437" y="1627632"/>
            <a:ext cx="1710476" cy="804672"/>
          </a:xfrm>
          <a:prstGeom prst="rect">
            <a:avLst/>
          </a:prstGeom>
          <a:noFill/>
        </p:spPr>
        <p:txBody>
          <a:bodyPr wrap="square">
            <a:spAutoFit/>
          </a:bodyPr>
          <a:lstStyle/>
          <a:p>
            <a:pPr algn="ctr">
              <a:spcAft>
                <a:spcPts val="200"/>
              </a:spcAft>
            </a:pPr>
            <a:r>
              <a:rPr sz="1300" b="1">
                <a:solidFill>
                  <a:srgbClr val="F0F7F4"/>
                </a:solidFill>
                <a:latin typeface="Segoe UI"/>
              </a:rPr>
              <a:t>RE-CHECK</a:t>
            </a:r>
          </a:p>
          <a:p>
            <a:pPr algn="ctr">
              <a:spcAft>
                <a:spcPts val="200"/>
              </a:spcAft>
            </a:pPr>
            <a:r>
              <a:rPr sz="950" b="0">
                <a:solidFill>
                  <a:srgbClr val="F0F7F4"/>
                </a:solidFill>
                <a:latin typeface="Segoe UI"/>
              </a:rPr>
              <a:t>recompute digest</a:t>
            </a:r>
          </a:p>
        </p:txBody>
      </p:sp>
      <p:sp>
        <p:nvSpPr>
          <p:cNvPr id="18" name="TextBox 17"/>
          <p:cNvSpPr txBox="1"/>
          <p:nvPr/>
        </p:nvSpPr>
        <p:spPr>
          <a:xfrm>
            <a:off x="9265065" y="1700784"/>
            <a:ext cx="384048" cy="457200"/>
          </a:xfrm>
          <a:prstGeom prst="rect">
            <a:avLst/>
          </a:prstGeom>
          <a:noFill/>
        </p:spPr>
        <p:txBody>
          <a:bodyPr wrap="square">
            <a:spAutoFit/>
          </a:bodyPr>
          <a:lstStyle/>
          <a:p>
            <a:pPr algn="ctr">
              <a:spcAft>
                <a:spcPts val="600"/>
              </a:spcAft>
            </a:pPr>
            <a:r>
              <a:rPr sz="2000" b="0">
                <a:solidFill>
                  <a:srgbClr val="82C0A4"/>
                </a:solidFill>
                <a:latin typeface="Segoe UI"/>
              </a:rPr>
              <a:t>→</a:t>
            </a:r>
          </a:p>
        </p:txBody>
      </p:sp>
      <p:sp>
        <p:nvSpPr>
          <p:cNvPr id="19" name="Rounded Rectangle 18"/>
          <p:cNvSpPr/>
          <p:nvPr/>
        </p:nvSpPr>
        <p:spPr>
          <a:xfrm>
            <a:off x="9649114" y="1481328"/>
            <a:ext cx="1856780" cy="804672"/>
          </a:xfrm>
          <a:prstGeom prst="round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22266" y="1627632"/>
            <a:ext cx="1710476" cy="804672"/>
          </a:xfrm>
          <a:prstGeom prst="rect">
            <a:avLst/>
          </a:prstGeom>
          <a:noFill/>
        </p:spPr>
        <p:txBody>
          <a:bodyPr wrap="square">
            <a:spAutoFit/>
          </a:bodyPr>
          <a:lstStyle/>
          <a:p>
            <a:pPr algn="ctr">
              <a:spcAft>
                <a:spcPts val="200"/>
              </a:spcAft>
            </a:pPr>
            <a:r>
              <a:rPr sz="1300" b="1">
                <a:solidFill>
                  <a:srgbClr val="0A100D"/>
                </a:solidFill>
                <a:latin typeface="Segoe UI"/>
              </a:rPr>
              <a:t>COMPARE</a:t>
            </a:r>
          </a:p>
          <a:p>
            <a:pPr algn="ctr">
              <a:spcAft>
                <a:spcPts val="200"/>
              </a:spcAft>
            </a:pPr>
            <a:r>
              <a:rPr sz="950" b="0">
                <a:solidFill>
                  <a:srgbClr val="0A100D"/>
                </a:solidFill>
                <a:latin typeface="Segoe UI"/>
              </a:rPr>
              <a:t>match or refuse</a:t>
            </a:r>
          </a:p>
        </p:txBody>
      </p:sp>
      <p:sp>
        <p:nvSpPr>
          <p:cNvPr id="21" name="TextBox 20"/>
          <p:cNvSpPr txBox="1"/>
          <p:nvPr/>
        </p:nvSpPr>
        <p:spPr>
          <a:xfrm>
            <a:off x="685800" y="2487168"/>
            <a:ext cx="10789920" cy="1097280"/>
          </a:xfrm>
          <a:prstGeom prst="rect">
            <a:avLst/>
          </a:prstGeom>
          <a:noFill/>
        </p:spPr>
        <p:txBody>
          <a:bodyPr wrap="square">
            <a:spAutoFit/>
          </a:bodyPr>
          <a:lstStyle/>
          <a:p>
            <a:pPr algn="l">
              <a:spcAft>
                <a:spcPts val="600"/>
              </a:spcAft>
            </a:pPr>
            <a:r>
              <a:rPr sz="1300" b="0">
                <a:solidFill>
                  <a:srgbClr val="A6ADAA"/>
                </a:solidFill>
                <a:latin typeface="Segoe UI"/>
              </a:rPr>
              <a:t>Published penetration testing has defeated human approval in real products by making what the reviewer SEES differ from what the system EXECUTES. CortexPrime binds the two cryptographically, in two independent stores — if a single byte changes after approval, execution refuses and the attempt is audited.</a:t>
            </a:r>
          </a:p>
        </p:txBody>
      </p:sp>
      <p:sp>
        <p:nvSpPr>
          <p:cNvPr id="22" name="TextBox 21"/>
          <p:cNvSpPr txBox="1"/>
          <p:nvPr/>
        </p:nvSpPr>
        <p:spPr>
          <a:xfrm>
            <a:off x="685800" y="3611880"/>
            <a:ext cx="10789920" cy="274320"/>
          </a:xfrm>
          <a:prstGeom prst="rect">
            <a:avLst/>
          </a:prstGeom>
          <a:noFill/>
        </p:spPr>
        <p:txBody>
          <a:bodyPr wrap="square">
            <a:spAutoFit/>
          </a:bodyPr>
          <a:lstStyle/>
          <a:p>
            <a:pPr algn="l">
              <a:spcAft>
                <a:spcPts val="600"/>
              </a:spcAft>
            </a:pPr>
            <a:r>
              <a:rPr sz="1100" b="1">
                <a:solidFill>
                  <a:srgbClr val="82C0A4"/>
                </a:solidFill>
                <a:latin typeface="Segoe UI"/>
              </a:rPr>
              <a:t>AND THE RECORD ITSELF CANNOT BE EDITED</a:t>
            </a:r>
          </a:p>
        </p:txBody>
      </p:sp>
      <p:sp>
        <p:nvSpPr>
          <p:cNvPr id="23" name="Rounded Rectangle 22"/>
          <p:cNvSpPr/>
          <p:nvPr/>
        </p:nvSpPr>
        <p:spPr>
          <a:xfrm>
            <a:off x="868680" y="3977639"/>
            <a:ext cx="2331720" cy="1143000"/>
          </a:xfrm>
          <a:prstGeom prst="roundRect">
            <a:avLst/>
          </a:prstGeom>
          <a:solidFill>
            <a:srgbClr val="4A8C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250" b="1">
                <a:solidFill>
                  <a:srgbClr val="F0F7F4"/>
                </a:solidFill>
                <a:latin typeface="Segoe UI"/>
              </a:rPr>
              <a:t>Record 1</a:t>
            </a:r>
          </a:p>
          <a:p>
            <a:pPr algn="ctr">
              <a:spcAft>
                <a:spcPts val="100"/>
              </a:spcAft>
            </a:pPr>
            <a:r>
              <a:rPr sz="900" b="0">
                <a:solidFill>
                  <a:srgbClr val="C6DBD1"/>
                </a:solidFill>
                <a:latin typeface="Segoe UI"/>
              </a:rPr>
              <a:t>seq 0</a:t>
            </a:r>
          </a:p>
          <a:p>
            <a:pPr algn="ctr">
              <a:spcAft>
                <a:spcPts val="100"/>
              </a:spcAft>
            </a:pPr>
            <a:r>
              <a:rPr sz="900" b="0">
                <a:solidFill>
                  <a:srgbClr val="C6DBD1"/>
                </a:solidFill>
                <a:latin typeface="Segoe UI"/>
              </a:rPr>
              <a:t>hash a1f3…</a:t>
            </a:r>
          </a:p>
        </p:txBody>
      </p:sp>
      <p:cxnSp>
        <p:nvCxnSpPr>
          <p:cNvPr id="24" name="Connector 23"/>
          <p:cNvCxnSpPr/>
          <p:nvPr/>
        </p:nvCxnSpPr>
        <p:spPr>
          <a:xfrm>
            <a:off x="3200400" y="4549140"/>
            <a:ext cx="502920" cy="0"/>
          </a:xfrm>
          <a:prstGeom prst="line">
            <a:avLst/>
          </a:prstGeom>
          <a:ln w="25400">
            <a:solidFill>
              <a:srgbClr val="82C0A4"/>
            </a:solidFill>
            <a:tailEnd type="triangle" w="med" h="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703320" y="3977639"/>
            <a:ext cx="2331720" cy="1143000"/>
          </a:xfrm>
          <a:prstGeom prst="roundRect">
            <a:avLst/>
          </a:prstGeom>
          <a:solidFill>
            <a:srgbClr val="4A8C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250" b="1">
                <a:solidFill>
                  <a:srgbClr val="F0F7F4"/>
                </a:solidFill>
                <a:latin typeface="Segoe UI"/>
              </a:rPr>
              <a:t>Record 2</a:t>
            </a:r>
          </a:p>
          <a:p>
            <a:pPr algn="ctr">
              <a:spcAft>
                <a:spcPts val="100"/>
              </a:spcAft>
            </a:pPr>
            <a:r>
              <a:rPr sz="900" b="0">
                <a:solidFill>
                  <a:srgbClr val="C6DBD1"/>
                </a:solidFill>
                <a:latin typeface="Segoe UI"/>
              </a:rPr>
              <a:t>seq 1</a:t>
            </a:r>
          </a:p>
          <a:p>
            <a:pPr algn="ctr">
              <a:spcAft>
                <a:spcPts val="100"/>
              </a:spcAft>
            </a:pPr>
            <a:r>
              <a:rPr sz="900" b="0">
                <a:solidFill>
                  <a:srgbClr val="C6DBD1"/>
                </a:solidFill>
                <a:latin typeface="Segoe UI"/>
              </a:rPr>
              <a:t>prev a1f3… → 7c92…</a:t>
            </a:r>
          </a:p>
        </p:txBody>
      </p:sp>
      <p:cxnSp>
        <p:nvCxnSpPr>
          <p:cNvPr id="26" name="Connector 25"/>
          <p:cNvCxnSpPr/>
          <p:nvPr/>
        </p:nvCxnSpPr>
        <p:spPr>
          <a:xfrm>
            <a:off x="6035040" y="4549140"/>
            <a:ext cx="502919" cy="0"/>
          </a:xfrm>
          <a:prstGeom prst="line">
            <a:avLst/>
          </a:prstGeom>
          <a:ln w="25400">
            <a:solidFill>
              <a:srgbClr val="82C0A4"/>
            </a:solidFill>
            <a:tailEnd type="triangle" w="med" h="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537959" y="3977639"/>
            <a:ext cx="2331720" cy="1143000"/>
          </a:xfrm>
          <a:prstGeom prst="round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250" b="1">
                <a:solidFill>
                  <a:srgbClr val="0A100D"/>
                </a:solidFill>
                <a:latin typeface="Segoe UI"/>
              </a:rPr>
              <a:t>Record 3</a:t>
            </a:r>
          </a:p>
          <a:p>
            <a:pPr algn="ctr">
              <a:spcAft>
                <a:spcPts val="100"/>
              </a:spcAft>
            </a:pPr>
            <a:r>
              <a:rPr sz="900" b="0">
                <a:solidFill>
                  <a:srgbClr val="1E3329"/>
                </a:solidFill>
                <a:latin typeface="Segoe UI"/>
              </a:rPr>
              <a:t>seq 2</a:t>
            </a:r>
          </a:p>
          <a:p>
            <a:pPr algn="ctr">
              <a:spcAft>
                <a:spcPts val="100"/>
              </a:spcAft>
            </a:pPr>
            <a:r>
              <a:rPr sz="900" b="0">
                <a:solidFill>
                  <a:srgbClr val="1E3329"/>
                </a:solidFill>
                <a:latin typeface="Segoe UI"/>
              </a:rPr>
              <a:t>prev 7c92… → e4b1…</a:t>
            </a:r>
          </a:p>
        </p:txBody>
      </p:sp>
      <p:cxnSp>
        <p:nvCxnSpPr>
          <p:cNvPr id="28" name="Connector 27"/>
          <p:cNvCxnSpPr/>
          <p:nvPr/>
        </p:nvCxnSpPr>
        <p:spPr>
          <a:xfrm>
            <a:off x="8869680" y="4549140"/>
            <a:ext cx="502920" cy="0"/>
          </a:xfrm>
          <a:prstGeom prst="line">
            <a:avLst/>
          </a:prstGeom>
          <a:ln w="25400">
            <a:solidFill>
              <a:srgbClr val="82C0A4"/>
            </a:solidFill>
            <a:tailEnd type="triangle" w="med" h="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372599" y="3977639"/>
            <a:ext cx="2331720" cy="1143000"/>
          </a:xfrm>
          <a:prstGeom prst="roundRect">
            <a:avLst/>
          </a:prstGeom>
          <a:solidFill>
            <a:srgbClr val="4A8C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Aft>
                <a:spcPts val="100"/>
              </a:spcAft>
            </a:pPr>
            <a:r>
              <a:rPr sz="1250" b="1">
                <a:solidFill>
                  <a:srgbClr val="F0F7F4"/>
                </a:solidFill>
                <a:latin typeface="Segoe UI"/>
              </a:rPr>
              <a:t>Record 4</a:t>
            </a:r>
          </a:p>
          <a:p>
            <a:pPr algn="ctr">
              <a:spcAft>
                <a:spcPts val="100"/>
              </a:spcAft>
            </a:pPr>
            <a:r>
              <a:rPr sz="900" b="0">
                <a:solidFill>
                  <a:srgbClr val="C6DBD1"/>
                </a:solidFill>
                <a:latin typeface="Segoe UI"/>
              </a:rPr>
              <a:t>seq 3</a:t>
            </a:r>
          </a:p>
          <a:p>
            <a:pPr algn="ctr">
              <a:spcAft>
                <a:spcPts val="100"/>
              </a:spcAft>
            </a:pPr>
            <a:r>
              <a:rPr sz="900" b="0">
                <a:solidFill>
                  <a:srgbClr val="C6DBD1"/>
                </a:solidFill>
                <a:latin typeface="Segoe UI"/>
              </a:rPr>
              <a:t>prev e4b1… → 9d20…</a:t>
            </a:r>
          </a:p>
        </p:txBody>
      </p:sp>
      <p:sp>
        <p:nvSpPr>
          <p:cNvPr id="30" name="TextBox 29"/>
          <p:cNvSpPr txBox="1"/>
          <p:nvPr/>
        </p:nvSpPr>
        <p:spPr>
          <a:xfrm>
            <a:off x="6149339" y="5212079"/>
            <a:ext cx="3108960" cy="548640"/>
          </a:xfrm>
          <a:prstGeom prst="rect">
            <a:avLst/>
          </a:prstGeom>
          <a:noFill/>
        </p:spPr>
        <p:txBody>
          <a:bodyPr wrap="square" lIns="36576" rIns="36576" tIns="18288" bIns="18288" anchor="ctr">
            <a:spAutoFit/>
          </a:bodyPr>
          <a:lstStyle/>
          <a:p>
            <a:pPr algn="ctr">
              <a:spcAft>
                <a:spcPts val="100"/>
              </a:spcAft>
            </a:pPr>
            <a:r>
              <a:rPr sz="1050" b="1">
                <a:solidFill>
                  <a:srgbClr val="F87171"/>
                </a:solidFill>
                <a:latin typeface="Segoe UI"/>
              </a:rPr>
              <a:t>EDITED AFTER THE FACT</a:t>
            </a:r>
          </a:p>
          <a:p>
            <a:pPr algn="ctr">
              <a:spcAft>
                <a:spcPts val="100"/>
              </a:spcAft>
            </a:pPr>
            <a:r>
              <a:rPr sz="950" b="0">
                <a:solidFill>
                  <a:srgbClr val="6B716E"/>
                </a:solidFill>
                <a:latin typeface="Segoe UI"/>
              </a:rPr>
              <a:t>its digest no longer matches</a:t>
            </a:r>
          </a:p>
        </p:txBody>
      </p:sp>
      <p:sp>
        <p:nvSpPr>
          <p:cNvPr id="31" name="TextBox 30"/>
          <p:cNvSpPr txBox="1"/>
          <p:nvPr/>
        </p:nvSpPr>
        <p:spPr>
          <a:xfrm>
            <a:off x="10332720" y="6382512"/>
            <a:ext cx="1463040" cy="274320"/>
          </a:xfrm>
          <a:prstGeom prst="rect">
            <a:avLst/>
          </a:prstGeom>
          <a:noFill/>
        </p:spPr>
        <p:txBody>
          <a:bodyPr wrap="square">
            <a:spAutoFit/>
          </a:bodyPr>
          <a:lstStyle/>
          <a:p>
            <a:pPr algn="r">
              <a:spcAft>
                <a:spcPts val="600"/>
              </a:spcAft>
            </a:pPr>
            <a:r>
              <a:rPr sz="900" b="0">
                <a:solidFill>
                  <a:srgbClr val="6B716E"/>
                </a:solidFill>
                <a:latin typeface="Segoe UI"/>
              </a:rPr>
              <a:t>CortexPrime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10896"/>
            <a:ext cx="10058400" cy="274320"/>
          </a:xfrm>
          <a:prstGeom prst="rect">
            <a:avLst/>
          </a:prstGeom>
          <a:noFill/>
        </p:spPr>
        <p:txBody>
          <a:bodyPr wrap="square">
            <a:spAutoFit/>
          </a:bodyPr>
          <a:lstStyle/>
          <a:p>
            <a:pPr algn="l">
              <a:spcAft>
                <a:spcPts val="600"/>
              </a:spcAft>
            </a:pPr>
            <a:r>
              <a:rPr sz="1100" b="1">
                <a:solidFill>
                  <a:srgbClr val="82C0A4"/>
                </a:solidFill>
                <a:latin typeface="Segoe UI"/>
              </a:rPr>
              <a:t>MODULES</a:t>
            </a:r>
          </a:p>
        </p:txBody>
      </p:sp>
      <p:sp>
        <p:nvSpPr>
          <p:cNvPr id="5" name="TextBox 4"/>
          <p:cNvSpPr txBox="1"/>
          <p:nvPr/>
        </p:nvSpPr>
        <p:spPr>
          <a:xfrm>
            <a:off x="640080" y="548640"/>
            <a:ext cx="10972800" cy="640080"/>
          </a:xfrm>
          <a:prstGeom prst="rect">
            <a:avLst/>
          </a:prstGeom>
          <a:noFill/>
        </p:spPr>
        <p:txBody>
          <a:bodyPr wrap="square">
            <a:spAutoFit/>
          </a:bodyPr>
          <a:lstStyle/>
          <a:p>
            <a:pPr algn="l">
              <a:spcAft>
                <a:spcPts val="600"/>
              </a:spcAft>
            </a:pPr>
            <a:r>
              <a:rPr sz="2700" b="1">
                <a:solidFill>
                  <a:srgbClr val="F0F7F4"/>
                </a:solidFill>
                <a:latin typeface="Segoe UI"/>
              </a:rPr>
              <a:t>Eight Detectors — Each Completing the Loop</a:t>
            </a:r>
          </a:p>
        </p:txBody>
      </p:sp>
      <p:sp>
        <p:nvSpPr>
          <p:cNvPr id="6" name="Rectangle 5"/>
          <p:cNvSpPr/>
          <p:nvPr/>
        </p:nvSpPr>
        <p:spPr>
          <a:xfrm>
            <a:off x="658368" y="1207008"/>
            <a:ext cx="1097280" cy="32004"/>
          </a:xfrm>
          <a:prstGeom prst="rect">
            <a:avLst/>
          </a:prstGeom>
          <a:solidFill>
            <a:srgbClr val="4A8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85800" y="1572768"/>
          <a:ext cx="10789919" cy="3438144"/>
        </p:xfrm>
        <a:graphic>
          <a:graphicData uri="http://schemas.openxmlformats.org/drawingml/2006/table">
            <a:tbl>
              <a:tblPr firstRow="1" bandRow="1">
                <a:tableStyleId>{5C22544A-7EE6-4342-B048-85BDC9FD1C3A}</a:tableStyleId>
              </a:tblPr>
              <a:tblGrid>
                <a:gridCol w="457200"/>
                <a:gridCol w="2377440"/>
                <a:gridCol w="3931919"/>
                <a:gridCol w="4023360"/>
              </a:tblGrid>
              <a:tr h="382016">
                <a:tc>
                  <a:txBody>
                    <a:bodyPr/>
                    <a:lstStyle/>
                    <a:p>
                      <a:r>
                        <a:rPr sz="1200" b="1">
                          <a:solidFill>
                            <a:srgbClr val="F0F7F4"/>
                          </a:solidFill>
                          <a:latin typeface="Segoe UI"/>
                        </a:rPr>
                        <a:t>#</a:t>
                      </a:r>
                    </a:p>
                  </a:txBody>
                  <a:tcPr anchor="ctr">
                    <a:solidFill>
                      <a:srgbClr val="4A8C70"/>
                    </a:solidFill>
                  </a:tcPr>
                </a:tc>
                <a:tc>
                  <a:txBody>
                    <a:bodyPr/>
                    <a:lstStyle/>
                    <a:p>
                      <a:r>
                        <a:rPr sz="1200" b="1">
                          <a:solidFill>
                            <a:srgbClr val="F0F7F4"/>
                          </a:solidFill>
                          <a:latin typeface="Segoe UI"/>
                        </a:rPr>
                        <a:t>Detector</a:t>
                      </a:r>
                    </a:p>
                  </a:txBody>
                  <a:tcPr anchor="ctr">
                    <a:solidFill>
                      <a:srgbClr val="4A8C70"/>
                    </a:solidFill>
                  </a:tcPr>
                </a:tc>
                <a:tc>
                  <a:txBody>
                    <a:bodyPr/>
                    <a:lstStyle/>
                    <a:p>
                      <a:r>
                        <a:rPr sz="1200" b="1">
                          <a:solidFill>
                            <a:srgbClr val="F0F7F4"/>
                          </a:solidFill>
                          <a:latin typeface="Segoe UI"/>
                        </a:rPr>
                        <a:t>Detects</a:t>
                      </a:r>
                    </a:p>
                  </a:txBody>
                  <a:tcPr anchor="ctr">
                    <a:solidFill>
                      <a:srgbClr val="4A8C70"/>
                    </a:solidFill>
                  </a:tcPr>
                </a:tc>
                <a:tc>
                  <a:txBody>
                    <a:bodyPr/>
                    <a:lstStyle/>
                    <a:p>
                      <a:r>
                        <a:rPr sz="1200" b="1">
                          <a:solidFill>
                            <a:srgbClr val="F0F7F4"/>
                          </a:solidFill>
                          <a:latin typeface="Segoe UI"/>
                        </a:rPr>
                        <a:t>Proposed fix</a:t>
                      </a:r>
                    </a:p>
                  </a:txBody>
                  <a:tcPr anchor="ctr">
                    <a:solidFill>
                      <a:srgbClr val="4A8C70"/>
                    </a:solidFill>
                  </a:tcPr>
                </a:tc>
              </a:tr>
              <a:tr h="382016">
                <a:tc>
                  <a:txBody>
                    <a:bodyPr/>
                    <a:lstStyle/>
                    <a:p>
                      <a:r>
                        <a:rPr sz="1100" b="1">
                          <a:solidFill>
                            <a:srgbClr val="F0F7F4"/>
                          </a:solidFill>
                          <a:latin typeface="Segoe UI"/>
                        </a:rPr>
                        <a:t>1</a:t>
                      </a:r>
                    </a:p>
                  </a:txBody>
                  <a:tcPr anchor="ctr">
                    <a:solidFill>
                      <a:srgbClr val="121A16"/>
                    </a:solidFill>
                  </a:tcPr>
                </a:tc>
                <a:tc>
                  <a:txBody>
                    <a:bodyPr/>
                    <a:lstStyle/>
                    <a:p>
                      <a:r>
                        <a:rPr sz="1100" b="0">
                          <a:solidFill>
                            <a:srgbClr val="A6ADAA"/>
                          </a:solidFill>
                          <a:latin typeface="Segoe UI"/>
                        </a:rPr>
                        <a:t>Deploy regression</a:t>
                      </a:r>
                    </a:p>
                  </a:txBody>
                  <a:tcPr anchor="ctr">
                    <a:solidFill>
                      <a:srgbClr val="121A16"/>
                    </a:solidFill>
                  </a:tcPr>
                </a:tc>
                <a:tc>
                  <a:txBody>
                    <a:bodyPr/>
                    <a:lstStyle/>
                    <a:p>
                      <a:r>
                        <a:rPr sz="1100" b="0">
                          <a:solidFill>
                            <a:srgbClr val="A6ADAA"/>
                          </a:solidFill>
                          <a:latin typeface="Segoe UI"/>
                        </a:rPr>
                        <a:t>Error/latency spike after a deploy</a:t>
                      </a:r>
                    </a:p>
                  </a:txBody>
                  <a:tcPr anchor="ctr">
                    <a:solidFill>
                      <a:srgbClr val="121A16"/>
                    </a:solidFill>
                  </a:tcPr>
                </a:tc>
                <a:tc>
                  <a:txBody>
                    <a:bodyPr/>
                    <a:lstStyle/>
                    <a:p>
                      <a:r>
                        <a:rPr sz="1100" b="0">
                          <a:solidFill>
                            <a:srgbClr val="A6ADAA"/>
                          </a:solidFill>
                          <a:latin typeface="Segoe UI"/>
                        </a:rPr>
                        <a:t>Roll back to last good</a:t>
                      </a:r>
                    </a:p>
                  </a:txBody>
                  <a:tcPr anchor="ctr">
                    <a:solidFill>
                      <a:srgbClr val="121A16"/>
                    </a:solidFill>
                  </a:tcPr>
                </a:tc>
              </a:tr>
              <a:tr h="382016">
                <a:tc>
                  <a:txBody>
                    <a:bodyPr/>
                    <a:lstStyle/>
                    <a:p>
                      <a:r>
                        <a:rPr sz="1100" b="1">
                          <a:solidFill>
                            <a:srgbClr val="F0F7F4"/>
                          </a:solidFill>
                          <a:latin typeface="Segoe UI"/>
                        </a:rPr>
                        <a:t>2</a:t>
                      </a:r>
                    </a:p>
                  </a:txBody>
                  <a:tcPr anchor="ctr">
                    <a:solidFill>
                      <a:srgbClr val="1A2520"/>
                    </a:solidFill>
                  </a:tcPr>
                </a:tc>
                <a:tc>
                  <a:txBody>
                    <a:bodyPr/>
                    <a:lstStyle/>
                    <a:p>
                      <a:r>
                        <a:rPr sz="1100" b="0">
                          <a:solidFill>
                            <a:srgbClr val="A6ADAA"/>
                          </a:solidFill>
                          <a:latin typeface="Segoe UI"/>
                        </a:rPr>
                        <a:t>Docker health</a:t>
                      </a:r>
                    </a:p>
                  </a:txBody>
                  <a:tcPr anchor="ctr">
                    <a:solidFill>
                      <a:srgbClr val="1A2520"/>
                    </a:solidFill>
                  </a:tcPr>
                </a:tc>
                <a:tc>
                  <a:txBody>
                    <a:bodyPr/>
                    <a:lstStyle/>
                    <a:p>
                      <a:r>
                        <a:rPr sz="1100" b="0">
                          <a:solidFill>
                            <a:srgbClr val="A6ADAA"/>
                          </a:solidFill>
                          <a:latin typeface="Segoe UI"/>
                        </a:rPr>
                        <a:t>Crash-loops, OOM kills</a:t>
                      </a:r>
                    </a:p>
                  </a:txBody>
                  <a:tcPr anchor="ctr">
                    <a:solidFill>
                      <a:srgbClr val="1A2520"/>
                    </a:solidFill>
                  </a:tcPr>
                </a:tc>
                <a:tc>
                  <a:txBody>
                    <a:bodyPr/>
                    <a:lstStyle/>
                    <a:p>
                      <a:r>
                        <a:rPr sz="1100" b="0">
                          <a:solidFill>
                            <a:srgbClr val="A6ADAA"/>
                          </a:solidFill>
                          <a:latin typeface="Segoe UI"/>
                        </a:rPr>
                        <a:t>Restart the container</a:t>
                      </a:r>
                    </a:p>
                  </a:txBody>
                  <a:tcPr anchor="ctr">
                    <a:solidFill>
                      <a:srgbClr val="1A2520"/>
                    </a:solidFill>
                  </a:tcPr>
                </a:tc>
              </a:tr>
              <a:tr h="382016">
                <a:tc>
                  <a:txBody>
                    <a:bodyPr/>
                    <a:lstStyle/>
                    <a:p>
                      <a:r>
                        <a:rPr sz="1100" b="1">
                          <a:solidFill>
                            <a:srgbClr val="F0F7F4"/>
                          </a:solidFill>
                          <a:latin typeface="Segoe UI"/>
                        </a:rPr>
                        <a:t>3</a:t>
                      </a:r>
                    </a:p>
                  </a:txBody>
                  <a:tcPr anchor="ctr">
                    <a:solidFill>
                      <a:srgbClr val="121A16"/>
                    </a:solidFill>
                  </a:tcPr>
                </a:tc>
                <a:tc>
                  <a:txBody>
                    <a:bodyPr/>
                    <a:lstStyle/>
                    <a:p>
                      <a:r>
                        <a:rPr sz="1100" b="0">
                          <a:solidFill>
                            <a:srgbClr val="A6ADAA"/>
                          </a:solidFill>
                          <a:latin typeface="Segoe UI"/>
                        </a:rPr>
                        <a:t>Credential expiry</a:t>
                      </a:r>
                    </a:p>
                  </a:txBody>
                  <a:tcPr anchor="ctr">
                    <a:solidFill>
                      <a:srgbClr val="121A16"/>
                    </a:solidFill>
                  </a:tcPr>
                </a:tc>
                <a:tc>
                  <a:txBody>
                    <a:bodyPr/>
                    <a:lstStyle/>
                    <a:p>
                      <a:r>
                        <a:rPr sz="1100" b="0">
                          <a:solidFill>
                            <a:srgbClr val="A6ADAA"/>
                          </a:solidFill>
                          <a:latin typeface="Segoe UI"/>
                        </a:rPr>
                        <a:t>Tokens nearing expiry</a:t>
                      </a:r>
                    </a:p>
                  </a:txBody>
                  <a:tcPr anchor="ctr">
                    <a:solidFill>
                      <a:srgbClr val="121A16"/>
                    </a:solidFill>
                  </a:tcPr>
                </a:tc>
                <a:tc>
                  <a:txBody>
                    <a:bodyPr/>
                    <a:lstStyle/>
                    <a:p>
                      <a:r>
                        <a:rPr sz="1100" b="0">
                          <a:solidFill>
                            <a:srgbClr val="A6ADAA"/>
                          </a:solidFill>
                          <a:latin typeface="Segoe UI"/>
                        </a:rPr>
                        <a:t>Alert with renewal steps</a:t>
                      </a:r>
                    </a:p>
                  </a:txBody>
                  <a:tcPr anchor="ctr">
                    <a:solidFill>
                      <a:srgbClr val="121A16"/>
                    </a:solidFill>
                  </a:tcPr>
                </a:tc>
              </a:tr>
              <a:tr h="382016">
                <a:tc>
                  <a:txBody>
                    <a:bodyPr/>
                    <a:lstStyle/>
                    <a:p>
                      <a:r>
                        <a:rPr sz="1100" b="1">
                          <a:solidFill>
                            <a:srgbClr val="F0F7F4"/>
                          </a:solidFill>
                          <a:latin typeface="Segoe UI"/>
                        </a:rPr>
                        <a:t>4</a:t>
                      </a:r>
                    </a:p>
                  </a:txBody>
                  <a:tcPr anchor="ctr">
                    <a:solidFill>
                      <a:srgbClr val="1A2520"/>
                    </a:solidFill>
                  </a:tcPr>
                </a:tc>
                <a:tc>
                  <a:txBody>
                    <a:bodyPr/>
                    <a:lstStyle/>
                    <a:p>
                      <a:r>
                        <a:rPr sz="1100" b="0">
                          <a:solidFill>
                            <a:srgbClr val="A6ADAA"/>
                          </a:solidFill>
                          <a:latin typeface="Segoe UI"/>
                        </a:rPr>
                        <a:t>Vulnerability</a:t>
                      </a:r>
                    </a:p>
                  </a:txBody>
                  <a:tcPr anchor="ctr">
                    <a:solidFill>
                      <a:srgbClr val="1A2520"/>
                    </a:solidFill>
                  </a:tcPr>
                </a:tc>
                <a:tc>
                  <a:txBody>
                    <a:bodyPr/>
                    <a:lstStyle/>
                    <a:p>
                      <a:r>
                        <a:rPr sz="1100" b="0">
                          <a:solidFill>
                            <a:srgbClr val="A6ADAA"/>
                          </a:solidFill>
                          <a:latin typeface="Segoe UI"/>
                        </a:rPr>
                        <a:t>Dependabot security alerts</a:t>
                      </a:r>
                    </a:p>
                  </a:txBody>
                  <a:tcPr anchor="ctr">
                    <a:solidFill>
                      <a:srgbClr val="1A2520"/>
                    </a:solidFill>
                  </a:tcPr>
                </a:tc>
                <a:tc>
                  <a:txBody>
                    <a:bodyPr/>
                    <a:lstStyle/>
                    <a:p>
                      <a:r>
                        <a:rPr sz="1100" b="0">
                          <a:solidFill>
                            <a:srgbClr val="A6ADAA"/>
                          </a:solidFill>
                          <a:latin typeface="Segoe UI"/>
                        </a:rPr>
                        <a:t>Dependency-bump pull request</a:t>
                      </a:r>
                    </a:p>
                  </a:txBody>
                  <a:tcPr anchor="ctr">
                    <a:solidFill>
                      <a:srgbClr val="1A2520"/>
                    </a:solidFill>
                  </a:tcPr>
                </a:tc>
              </a:tr>
              <a:tr h="382016">
                <a:tc>
                  <a:txBody>
                    <a:bodyPr/>
                    <a:lstStyle/>
                    <a:p>
                      <a:r>
                        <a:rPr sz="1100" b="1">
                          <a:solidFill>
                            <a:srgbClr val="F0F7F4"/>
                          </a:solidFill>
                          <a:latin typeface="Segoe UI"/>
                        </a:rPr>
                        <a:t>5</a:t>
                      </a:r>
                    </a:p>
                  </a:txBody>
                  <a:tcPr anchor="ctr">
                    <a:solidFill>
                      <a:srgbClr val="121A16"/>
                    </a:solidFill>
                  </a:tcPr>
                </a:tc>
                <a:tc>
                  <a:txBody>
                    <a:bodyPr/>
                    <a:lstStyle/>
                    <a:p>
                      <a:r>
                        <a:rPr sz="1100" b="0">
                          <a:solidFill>
                            <a:srgbClr val="A6ADAA"/>
                          </a:solidFill>
                          <a:latin typeface="Segoe UI"/>
                        </a:rPr>
                        <a:t>Branch protection</a:t>
                      </a:r>
                    </a:p>
                  </a:txBody>
                  <a:tcPr anchor="ctr">
                    <a:solidFill>
                      <a:srgbClr val="121A16"/>
                    </a:solidFill>
                  </a:tcPr>
                </a:tc>
                <a:tc>
                  <a:txBody>
                    <a:bodyPr/>
                    <a:lstStyle/>
                    <a:p>
                      <a:r>
                        <a:rPr sz="1100" b="0">
                          <a:solidFill>
                            <a:srgbClr val="A6ADAA"/>
                          </a:solidFill>
                          <a:latin typeface="Segoe UI"/>
                        </a:rPr>
                        <a:t>Missing reviews or CI checks</a:t>
                      </a:r>
                    </a:p>
                  </a:txBody>
                  <a:tcPr anchor="ctr">
                    <a:solidFill>
                      <a:srgbClr val="121A16"/>
                    </a:solidFill>
                  </a:tcPr>
                </a:tc>
                <a:tc>
                  <a:txBody>
                    <a:bodyPr/>
                    <a:lstStyle/>
                    <a:p>
                      <a:r>
                        <a:rPr sz="1100" b="0">
                          <a:solidFill>
                            <a:srgbClr val="A6ADAA"/>
                          </a:solidFill>
                          <a:latin typeface="Segoe UI"/>
                        </a:rPr>
                        <a:t>Enable minimum protection</a:t>
                      </a:r>
                    </a:p>
                  </a:txBody>
                  <a:tcPr anchor="ctr">
                    <a:solidFill>
                      <a:srgbClr val="121A16"/>
                    </a:solidFill>
                  </a:tcPr>
                </a:tc>
              </a:tr>
              <a:tr h="382016">
                <a:tc>
                  <a:txBody>
                    <a:bodyPr/>
                    <a:lstStyle/>
                    <a:p>
                      <a:r>
                        <a:rPr sz="1100" b="1">
                          <a:solidFill>
                            <a:srgbClr val="F0F7F4"/>
                          </a:solidFill>
                          <a:latin typeface="Segoe UI"/>
                        </a:rPr>
                        <a:t>6</a:t>
                      </a:r>
                    </a:p>
                  </a:txBody>
                  <a:tcPr anchor="ctr">
                    <a:solidFill>
                      <a:srgbClr val="1A2520"/>
                    </a:solidFill>
                  </a:tcPr>
                </a:tc>
                <a:tc>
                  <a:txBody>
                    <a:bodyPr/>
                    <a:lstStyle/>
                    <a:p>
                      <a:r>
                        <a:rPr sz="1100" b="0">
                          <a:solidFill>
                            <a:srgbClr val="A6ADAA"/>
                          </a:solidFill>
                          <a:latin typeface="Segoe UI"/>
                        </a:rPr>
                        <a:t>LLM cost anomaly</a:t>
                      </a:r>
                    </a:p>
                  </a:txBody>
                  <a:tcPr anchor="ctr">
                    <a:solidFill>
                      <a:srgbClr val="1A2520"/>
                    </a:solidFill>
                  </a:tcPr>
                </a:tc>
                <a:tc>
                  <a:txBody>
                    <a:bodyPr/>
                    <a:lstStyle/>
                    <a:p>
                      <a:r>
                        <a:rPr sz="1100" b="0">
                          <a:solidFill>
                            <a:srgbClr val="A6ADAA"/>
                          </a:solidFill>
                          <a:latin typeface="Segoe UI"/>
                        </a:rPr>
                        <a:t>Provider spend spike</a:t>
                      </a:r>
                    </a:p>
                  </a:txBody>
                  <a:tcPr anchor="ctr">
                    <a:solidFill>
                      <a:srgbClr val="1A2520"/>
                    </a:solidFill>
                  </a:tcPr>
                </a:tc>
                <a:tc>
                  <a:txBody>
                    <a:bodyPr/>
                    <a:lstStyle/>
                    <a:p>
                      <a:r>
                        <a:rPr sz="1100" b="0">
                          <a:solidFill>
                            <a:srgbClr val="A6ADAA"/>
                          </a:solidFill>
                          <a:latin typeface="Segoe UI"/>
                        </a:rPr>
                        <a:t>Disable provider temporarily</a:t>
                      </a:r>
                    </a:p>
                  </a:txBody>
                  <a:tcPr anchor="ctr">
                    <a:solidFill>
                      <a:srgbClr val="1A2520"/>
                    </a:solidFill>
                  </a:tcPr>
                </a:tc>
              </a:tr>
              <a:tr h="382016">
                <a:tc>
                  <a:txBody>
                    <a:bodyPr/>
                    <a:lstStyle/>
                    <a:p>
                      <a:r>
                        <a:rPr sz="1100" b="1">
                          <a:solidFill>
                            <a:srgbClr val="F0F7F4"/>
                          </a:solidFill>
                          <a:latin typeface="Segoe UI"/>
                        </a:rPr>
                        <a:t>7</a:t>
                      </a:r>
                    </a:p>
                  </a:txBody>
                  <a:tcPr anchor="ctr">
                    <a:solidFill>
                      <a:srgbClr val="121A16"/>
                    </a:solidFill>
                  </a:tcPr>
                </a:tc>
                <a:tc>
                  <a:txBody>
                    <a:bodyPr/>
                    <a:lstStyle/>
                    <a:p>
                      <a:r>
                        <a:rPr sz="1100" b="0">
                          <a:solidFill>
                            <a:srgbClr val="A6ADAA"/>
                          </a:solidFill>
                          <a:latin typeface="Segoe UI"/>
                        </a:rPr>
                        <a:t>Flaky test</a:t>
                      </a:r>
                    </a:p>
                  </a:txBody>
                  <a:tcPr anchor="ctr">
                    <a:solidFill>
                      <a:srgbClr val="121A16"/>
                    </a:solidFill>
                  </a:tcPr>
                </a:tc>
                <a:tc>
                  <a:txBody>
                    <a:bodyPr/>
                    <a:lstStyle/>
                    <a:p>
                      <a:r>
                        <a:rPr sz="1100" b="0">
                          <a:solidFill>
                            <a:srgbClr val="A6ADAA"/>
                          </a:solidFill>
                          <a:latin typeface="Segoe UI"/>
                        </a:rPr>
                        <a:t>Intermittently failing tests</a:t>
                      </a:r>
                    </a:p>
                  </a:txBody>
                  <a:tcPr anchor="ctr">
                    <a:solidFill>
                      <a:srgbClr val="121A16"/>
                    </a:solidFill>
                  </a:tcPr>
                </a:tc>
                <a:tc>
                  <a:txBody>
                    <a:bodyPr/>
                    <a:lstStyle/>
                    <a:p>
                      <a:r>
                        <a:rPr sz="1100" b="0">
                          <a:solidFill>
                            <a:srgbClr val="A6ADAA"/>
                          </a:solidFill>
                          <a:latin typeface="Segoe UI"/>
                        </a:rPr>
                        <a:t>Quarantine and report</a:t>
                      </a:r>
                    </a:p>
                  </a:txBody>
                  <a:tcPr anchor="ctr">
                    <a:solidFill>
                      <a:srgbClr val="121A16"/>
                    </a:solidFill>
                  </a:tcPr>
                </a:tc>
              </a:tr>
              <a:tr h="382016">
                <a:tc>
                  <a:txBody>
                    <a:bodyPr/>
                    <a:lstStyle/>
                    <a:p>
                      <a:r>
                        <a:rPr sz="1100" b="1">
                          <a:solidFill>
                            <a:srgbClr val="F0F7F4"/>
                          </a:solidFill>
                          <a:latin typeface="Segoe UI"/>
                        </a:rPr>
                        <a:t>8</a:t>
                      </a:r>
                    </a:p>
                  </a:txBody>
                  <a:tcPr anchor="ctr">
                    <a:solidFill>
                      <a:srgbClr val="1A2520"/>
                    </a:solidFill>
                  </a:tcPr>
                </a:tc>
                <a:tc>
                  <a:txBody>
                    <a:bodyPr/>
                    <a:lstStyle/>
                    <a:p>
                      <a:r>
                        <a:rPr sz="1100" b="0">
                          <a:solidFill>
                            <a:srgbClr val="A6ADAA"/>
                          </a:solidFill>
                          <a:latin typeface="Segoe UI"/>
                        </a:rPr>
                        <a:t>Alert correlation</a:t>
                      </a:r>
                    </a:p>
                  </a:txBody>
                  <a:tcPr anchor="ctr">
                    <a:solidFill>
                      <a:srgbClr val="1A2520"/>
                    </a:solidFill>
                  </a:tcPr>
                </a:tc>
                <a:tc>
                  <a:txBody>
                    <a:bodyPr/>
                    <a:lstStyle/>
                    <a:p>
                      <a:r>
                        <a:rPr sz="1100" b="0">
                          <a:solidFill>
                            <a:srgbClr val="A6ADAA"/>
                          </a:solidFill>
                          <a:latin typeface="Segoe UI"/>
                        </a:rPr>
                        <a:t>Duplicate alerts across tools</a:t>
                      </a:r>
                    </a:p>
                  </a:txBody>
                  <a:tcPr anchor="ctr">
                    <a:solidFill>
                      <a:srgbClr val="1A2520"/>
                    </a:solidFill>
                  </a:tcPr>
                </a:tc>
                <a:tc>
                  <a:txBody>
                    <a:bodyPr/>
                    <a:lstStyle/>
                    <a:p>
                      <a:r>
                        <a:rPr sz="1100" b="0">
                          <a:solidFill>
                            <a:srgbClr val="A6ADAA"/>
                          </a:solidFill>
                          <a:latin typeface="Segoe UI"/>
                        </a:rPr>
                        <a:t>Merge into one incident</a:t>
                      </a:r>
                    </a:p>
                  </a:txBody>
                  <a:tcPr anchor="ctr">
                    <a:solidFill>
                      <a:srgbClr val="1A2520"/>
                    </a:solidFill>
                  </a:tcPr>
                </a:tc>
              </a:tr>
            </a:tbl>
          </a:graphicData>
        </a:graphic>
      </p:graphicFrame>
      <p:sp>
        <p:nvSpPr>
          <p:cNvPr id="8" name="Rounded Rectangle 7"/>
          <p:cNvSpPr/>
          <p:nvPr/>
        </p:nvSpPr>
        <p:spPr>
          <a:xfrm>
            <a:off x="685800" y="5532120"/>
            <a:ext cx="10789920" cy="731520"/>
          </a:xfrm>
          <a:prstGeom prst="roundRect">
            <a:avLst/>
          </a:prstGeom>
          <a:solidFill>
            <a:srgbClr val="1A2520"/>
          </a:solidFill>
          <a:ln w="12700">
            <a:solidFill>
              <a:srgbClr val="313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5532120"/>
            <a:ext cx="50292" cy="731520"/>
          </a:xfrm>
          <a:prstGeom prst="rect">
            <a:avLst/>
          </a:prstGeom>
          <a:solidFill>
            <a:srgbClr val="38B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660136"/>
            <a:ext cx="10424160" cy="548640"/>
          </a:xfrm>
          <a:prstGeom prst="rect">
            <a:avLst/>
          </a:prstGeom>
          <a:noFill/>
        </p:spPr>
        <p:txBody>
          <a:bodyPr wrap="square">
            <a:spAutoFit/>
          </a:bodyPr>
          <a:lstStyle/>
          <a:p>
            <a:pPr algn="l">
              <a:spcAft>
                <a:spcPts val="600"/>
              </a:spcAft>
            </a:pPr>
            <a:r>
              <a:rPr sz="1300" b="0">
                <a:solidFill>
                  <a:srgbClr val="F0F7F4"/>
                </a:solidFill>
                <a:latin typeface="Segoe UI"/>
              </a:rPr>
              <a:t>Every detector was proven against a real external system — a real crash-looping container, a real Jira ticket, a real database — never a mock alone.</a:t>
            </a:r>
          </a:p>
        </p:txBody>
      </p:sp>
      <p:sp>
        <p:nvSpPr>
          <p:cNvPr id="11" name="TextBox 10"/>
          <p:cNvSpPr txBox="1"/>
          <p:nvPr/>
        </p:nvSpPr>
        <p:spPr>
          <a:xfrm>
            <a:off x="10332720" y="6382512"/>
            <a:ext cx="1463040" cy="274320"/>
          </a:xfrm>
          <a:prstGeom prst="rect">
            <a:avLst/>
          </a:prstGeom>
          <a:noFill/>
        </p:spPr>
        <p:txBody>
          <a:bodyPr wrap="square">
            <a:spAutoFit/>
          </a:bodyPr>
          <a:lstStyle/>
          <a:p>
            <a:pPr algn="r">
              <a:spcAft>
                <a:spcPts val="600"/>
              </a:spcAft>
            </a:pPr>
            <a:r>
              <a:rPr sz="900" b="0">
                <a:solidFill>
                  <a:srgbClr val="6B716E"/>
                </a:solidFill>
                <a:latin typeface="Segoe UI"/>
              </a:rPr>
              <a:t>CortexPrime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10896"/>
            <a:ext cx="10058400" cy="274320"/>
          </a:xfrm>
          <a:prstGeom prst="rect">
            <a:avLst/>
          </a:prstGeom>
          <a:noFill/>
        </p:spPr>
        <p:txBody>
          <a:bodyPr wrap="square">
            <a:spAutoFit/>
          </a:bodyPr>
          <a:lstStyle/>
          <a:p>
            <a:pPr algn="l">
              <a:spcAft>
                <a:spcPts val="600"/>
              </a:spcAft>
            </a:pPr>
            <a:r>
              <a:rPr sz="1100" b="1">
                <a:solidFill>
                  <a:srgbClr val="82C0A4"/>
                </a:solidFill>
                <a:latin typeface="Segoe UI"/>
              </a:rPr>
              <a:t>BUILD</a:t>
            </a:r>
          </a:p>
        </p:txBody>
      </p:sp>
      <p:sp>
        <p:nvSpPr>
          <p:cNvPr id="5" name="TextBox 4"/>
          <p:cNvSpPr txBox="1"/>
          <p:nvPr/>
        </p:nvSpPr>
        <p:spPr>
          <a:xfrm>
            <a:off x="640080" y="548640"/>
            <a:ext cx="10972800" cy="640080"/>
          </a:xfrm>
          <a:prstGeom prst="rect">
            <a:avLst/>
          </a:prstGeom>
          <a:noFill/>
        </p:spPr>
        <p:txBody>
          <a:bodyPr wrap="square">
            <a:spAutoFit/>
          </a:bodyPr>
          <a:lstStyle/>
          <a:p>
            <a:pPr algn="l">
              <a:spcAft>
                <a:spcPts val="600"/>
              </a:spcAft>
            </a:pPr>
            <a:r>
              <a:rPr sz="2700" b="1">
                <a:solidFill>
                  <a:srgbClr val="F0F7F4"/>
                </a:solidFill>
                <a:latin typeface="Segoe UI"/>
              </a:rPr>
              <a:t>Technology and Implementation</a:t>
            </a:r>
          </a:p>
        </p:txBody>
      </p:sp>
      <p:sp>
        <p:nvSpPr>
          <p:cNvPr id="6" name="Rectangle 5"/>
          <p:cNvSpPr/>
          <p:nvPr/>
        </p:nvSpPr>
        <p:spPr>
          <a:xfrm>
            <a:off x="658368" y="1207008"/>
            <a:ext cx="1097280" cy="32004"/>
          </a:xfrm>
          <a:prstGeom prst="rect">
            <a:avLst/>
          </a:prstGeom>
          <a:solidFill>
            <a:srgbClr val="4A8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572768"/>
            <a:ext cx="3423818" cy="1170432"/>
          </a:xfrm>
          <a:prstGeom prst="roundRect">
            <a:avLst/>
          </a:prstGeom>
          <a:solidFill>
            <a:srgbClr val="121A16"/>
          </a:solidFill>
          <a:ln w="12700">
            <a:solidFill>
              <a:srgbClr val="313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572768"/>
            <a:ext cx="41148" cy="1170432"/>
          </a:xfrm>
          <a:prstGeom prst="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1691640"/>
            <a:ext cx="3058058" cy="987552"/>
          </a:xfrm>
          <a:prstGeom prst="rect">
            <a:avLst/>
          </a:prstGeom>
          <a:noFill/>
        </p:spPr>
        <p:txBody>
          <a:bodyPr wrap="square">
            <a:spAutoFit/>
          </a:bodyPr>
          <a:lstStyle/>
          <a:p>
            <a:pPr algn="l">
              <a:spcAft>
                <a:spcPts val="400"/>
              </a:spcAft>
            </a:pPr>
            <a:r>
              <a:rPr sz="1350" b="1">
                <a:solidFill>
                  <a:srgbClr val="82C0A4"/>
                </a:solidFill>
                <a:latin typeface="Segoe UI"/>
              </a:rPr>
              <a:t>Frontend</a:t>
            </a:r>
          </a:p>
          <a:p>
            <a:pPr algn="l">
              <a:spcAft>
                <a:spcPts val="400"/>
              </a:spcAft>
            </a:pPr>
            <a:r>
              <a:rPr sz="1100" b="0">
                <a:solidFill>
                  <a:srgbClr val="A6ADAA"/>
                </a:solidFill>
                <a:latin typeface="Segoe UI"/>
              </a:rPr>
              <a:t>Next.js 16 · React 19 · Tailwind CSS · TanStack Query</a:t>
            </a:r>
          </a:p>
        </p:txBody>
      </p:sp>
      <p:sp>
        <p:nvSpPr>
          <p:cNvPr id="10" name="Rounded Rectangle 9"/>
          <p:cNvSpPr/>
          <p:nvPr/>
        </p:nvSpPr>
        <p:spPr>
          <a:xfrm>
            <a:off x="4383938" y="1572768"/>
            <a:ext cx="3423818" cy="1170432"/>
          </a:xfrm>
          <a:prstGeom prst="roundRect">
            <a:avLst/>
          </a:prstGeom>
          <a:solidFill>
            <a:srgbClr val="121A16"/>
          </a:solidFill>
          <a:ln w="12700">
            <a:solidFill>
              <a:srgbClr val="313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3938" y="1572768"/>
            <a:ext cx="41148" cy="1170432"/>
          </a:xfrm>
          <a:prstGeom prst="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5106" y="1691640"/>
            <a:ext cx="3058058" cy="987552"/>
          </a:xfrm>
          <a:prstGeom prst="rect">
            <a:avLst/>
          </a:prstGeom>
          <a:noFill/>
        </p:spPr>
        <p:txBody>
          <a:bodyPr wrap="square">
            <a:spAutoFit/>
          </a:bodyPr>
          <a:lstStyle/>
          <a:p>
            <a:pPr algn="l">
              <a:spcAft>
                <a:spcPts val="400"/>
              </a:spcAft>
            </a:pPr>
            <a:r>
              <a:rPr sz="1350" b="1">
                <a:solidFill>
                  <a:srgbClr val="82C0A4"/>
                </a:solidFill>
                <a:latin typeface="Segoe UI"/>
              </a:rPr>
              <a:t>Backend</a:t>
            </a:r>
          </a:p>
          <a:p>
            <a:pPr algn="l">
              <a:spcAft>
                <a:spcPts val="400"/>
              </a:spcAft>
            </a:pPr>
            <a:r>
              <a:rPr sz="1100" b="0">
                <a:solidFill>
                  <a:srgbClr val="A6ADAA"/>
                </a:solidFill>
                <a:latin typeface="Segoe UI"/>
              </a:rPr>
              <a:t>Python 3.13 · FastAPI · async SQLAlchemy · Uvicorn</a:t>
            </a:r>
          </a:p>
        </p:txBody>
      </p:sp>
      <p:sp>
        <p:nvSpPr>
          <p:cNvPr id="13" name="Rounded Rectangle 12"/>
          <p:cNvSpPr/>
          <p:nvPr/>
        </p:nvSpPr>
        <p:spPr>
          <a:xfrm>
            <a:off x="8082076" y="1572768"/>
            <a:ext cx="3423818" cy="1170432"/>
          </a:xfrm>
          <a:prstGeom prst="roundRect">
            <a:avLst/>
          </a:prstGeom>
          <a:solidFill>
            <a:srgbClr val="121A16"/>
          </a:solidFill>
          <a:ln w="12700">
            <a:solidFill>
              <a:srgbClr val="313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82076" y="1572768"/>
            <a:ext cx="41148" cy="1170432"/>
          </a:xfrm>
          <a:prstGeom prst="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83244" y="1691640"/>
            <a:ext cx="3058058" cy="987552"/>
          </a:xfrm>
          <a:prstGeom prst="rect">
            <a:avLst/>
          </a:prstGeom>
          <a:noFill/>
        </p:spPr>
        <p:txBody>
          <a:bodyPr wrap="square">
            <a:spAutoFit/>
          </a:bodyPr>
          <a:lstStyle/>
          <a:p>
            <a:pPr algn="l">
              <a:spcAft>
                <a:spcPts val="400"/>
              </a:spcAft>
            </a:pPr>
            <a:r>
              <a:rPr sz="1350" b="1">
                <a:solidFill>
                  <a:srgbClr val="82C0A4"/>
                </a:solidFill>
                <a:latin typeface="Segoe UI"/>
              </a:rPr>
              <a:t>Database</a:t>
            </a:r>
          </a:p>
          <a:p>
            <a:pPr algn="l">
              <a:spcAft>
                <a:spcPts val="400"/>
              </a:spcAft>
            </a:pPr>
            <a:r>
              <a:rPr sz="1100" b="0">
                <a:solidFill>
                  <a:srgbClr val="A6ADAA"/>
                </a:solidFill>
                <a:latin typeface="Segoe UI"/>
              </a:rPr>
              <a:t>PostgreSQL 16 with pgvector · Alembic migrations</a:t>
            </a:r>
          </a:p>
        </p:txBody>
      </p:sp>
      <p:sp>
        <p:nvSpPr>
          <p:cNvPr id="16" name="Rounded Rectangle 15"/>
          <p:cNvSpPr/>
          <p:nvPr/>
        </p:nvSpPr>
        <p:spPr>
          <a:xfrm>
            <a:off x="685800" y="2980944"/>
            <a:ext cx="3423818" cy="1170432"/>
          </a:xfrm>
          <a:prstGeom prst="roundRect">
            <a:avLst/>
          </a:prstGeom>
          <a:solidFill>
            <a:srgbClr val="121A16"/>
          </a:solidFill>
          <a:ln w="12700">
            <a:solidFill>
              <a:srgbClr val="313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2980944"/>
            <a:ext cx="41148" cy="1170432"/>
          </a:xfrm>
          <a:prstGeom prst="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3099816"/>
            <a:ext cx="3058058" cy="987552"/>
          </a:xfrm>
          <a:prstGeom prst="rect">
            <a:avLst/>
          </a:prstGeom>
          <a:noFill/>
        </p:spPr>
        <p:txBody>
          <a:bodyPr wrap="square">
            <a:spAutoFit/>
          </a:bodyPr>
          <a:lstStyle/>
          <a:p>
            <a:pPr algn="l">
              <a:spcAft>
                <a:spcPts val="400"/>
              </a:spcAft>
            </a:pPr>
            <a:r>
              <a:rPr sz="1350" b="1">
                <a:solidFill>
                  <a:srgbClr val="82C0A4"/>
                </a:solidFill>
                <a:latin typeface="Segoe UI"/>
              </a:rPr>
              <a:t>Infrastructure</a:t>
            </a:r>
          </a:p>
          <a:p>
            <a:pPr algn="l">
              <a:spcAft>
                <a:spcPts val="400"/>
              </a:spcAft>
            </a:pPr>
            <a:r>
              <a:rPr sz="1100" b="0">
                <a:solidFill>
                  <a:srgbClr val="A6ADAA"/>
                </a:solidFill>
                <a:latin typeface="Segoe UI"/>
              </a:rPr>
              <a:t>Docker · Redis · RabbitMQ · Prometheus</a:t>
            </a:r>
          </a:p>
        </p:txBody>
      </p:sp>
      <p:sp>
        <p:nvSpPr>
          <p:cNvPr id="19" name="Rounded Rectangle 18"/>
          <p:cNvSpPr/>
          <p:nvPr/>
        </p:nvSpPr>
        <p:spPr>
          <a:xfrm>
            <a:off x="4383938" y="2980944"/>
            <a:ext cx="3423818" cy="1170432"/>
          </a:xfrm>
          <a:prstGeom prst="roundRect">
            <a:avLst/>
          </a:prstGeom>
          <a:solidFill>
            <a:srgbClr val="121A16"/>
          </a:solidFill>
          <a:ln w="12700">
            <a:solidFill>
              <a:srgbClr val="313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83938" y="2980944"/>
            <a:ext cx="41148" cy="1170432"/>
          </a:xfrm>
          <a:prstGeom prst="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85106" y="3099816"/>
            <a:ext cx="3058058" cy="987552"/>
          </a:xfrm>
          <a:prstGeom prst="rect">
            <a:avLst/>
          </a:prstGeom>
          <a:noFill/>
        </p:spPr>
        <p:txBody>
          <a:bodyPr wrap="square">
            <a:spAutoFit/>
          </a:bodyPr>
          <a:lstStyle/>
          <a:p>
            <a:pPr algn="l">
              <a:spcAft>
                <a:spcPts val="400"/>
              </a:spcAft>
            </a:pPr>
            <a:r>
              <a:rPr sz="1350" b="1">
                <a:solidFill>
                  <a:srgbClr val="82C0A4"/>
                </a:solidFill>
                <a:latin typeface="Segoe UI"/>
              </a:rPr>
              <a:t>AI Providers</a:t>
            </a:r>
          </a:p>
          <a:p>
            <a:pPr algn="l">
              <a:spcAft>
                <a:spcPts val="400"/>
              </a:spcAft>
            </a:pPr>
            <a:r>
              <a:rPr sz="1100" b="0">
                <a:solidFill>
                  <a:srgbClr val="A6ADAA"/>
                </a:solidFill>
                <a:latin typeface="Segoe UI"/>
              </a:rPr>
              <a:t>OpenAI · Anthropic · Google · Azure OpenAI (pluggable)</a:t>
            </a:r>
          </a:p>
        </p:txBody>
      </p:sp>
      <p:sp>
        <p:nvSpPr>
          <p:cNvPr id="22" name="Rounded Rectangle 21"/>
          <p:cNvSpPr/>
          <p:nvPr/>
        </p:nvSpPr>
        <p:spPr>
          <a:xfrm>
            <a:off x="8082076" y="2980944"/>
            <a:ext cx="3423818" cy="1170432"/>
          </a:xfrm>
          <a:prstGeom prst="roundRect">
            <a:avLst/>
          </a:prstGeom>
          <a:solidFill>
            <a:srgbClr val="121A16"/>
          </a:solidFill>
          <a:ln w="12700">
            <a:solidFill>
              <a:srgbClr val="313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82076" y="2980944"/>
            <a:ext cx="41148" cy="1170432"/>
          </a:xfrm>
          <a:prstGeom prst="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83244" y="3099816"/>
            <a:ext cx="3058058" cy="987552"/>
          </a:xfrm>
          <a:prstGeom prst="rect">
            <a:avLst/>
          </a:prstGeom>
          <a:noFill/>
        </p:spPr>
        <p:txBody>
          <a:bodyPr wrap="square">
            <a:spAutoFit/>
          </a:bodyPr>
          <a:lstStyle/>
          <a:p>
            <a:pPr algn="l">
              <a:spcAft>
                <a:spcPts val="400"/>
              </a:spcAft>
            </a:pPr>
            <a:r>
              <a:rPr sz="1350" b="1">
                <a:solidFill>
                  <a:srgbClr val="82C0A4"/>
                </a:solidFill>
                <a:latin typeface="Segoe UI"/>
              </a:rPr>
              <a:t>Quality</a:t>
            </a:r>
          </a:p>
          <a:p>
            <a:pPr algn="l">
              <a:spcAft>
                <a:spcPts val="400"/>
              </a:spcAft>
            </a:pPr>
            <a:r>
              <a:rPr sz="1100" b="0">
                <a:solidFill>
                  <a:srgbClr val="A6ADAA"/>
                </a:solidFill>
                <a:latin typeface="Segoe UI"/>
              </a:rPr>
              <a:t>pytest · GitHub Actions · architecture fitness functions</a:t>
            </a:r>
          </a:p>
        </p:txBody>
      </p:sp>
      <p:sp>
        <p:nvSpPr>
          <p:cNvPr id="25" name="TextBox 24"/>
          <p:cNvSpPr txBox="1"/>
          <p:nvPr/>
        </p:nvSpPr>
        <p:spPr>
          <a:xfrm>
            <a:off x="685800" y="4846320"/>
            <a:ext cx="1981139" cy="914400"/>
          </a:xfrm>
          <a:prstGeom prst="rect">
            <a:avLst/>
          </a:prstGeom>
          <a:noFill/>
        </p:spPr>
        <p:txBody>
          <a:bodyPr wrap="square">
            <a:spAutoFit/>
          </a:bodyPr>
          <a:lstStyle/>
          <a:p>
            <a:pPr algn="ctr">
              <a:spcAft>
                <a:spcPts val="200"/>
              </a:spcAft>
            </a:pPr>
            <a:r>
              <a:rPr sz="2700" b="1">
                <a:solidFill>
                  <a:srgbClr val="82C0A4"/>
                </a:solidFill>
                <a:latin typeface="Segoe UI"/>
              </a:rPr>
              <a:t>157K</a:t>
            </a:r>
          </a:p>
          <a:p>
            <a:pPr algn="ctr">
              <a:spcAft>
                <a:spcPts val="200"/>
              </a:spcAft>
            </a:pPr>
            <a:r>
              <a:rPr sz="1100" b="0">
                <a:solidFill>
                  <a:srgbClr val="6B716E"/>
                </a:solidFill>
                <a:latin typeface="Segoe UI"/>
              </a:rPr>
              <a:t>lines of code</a:t>
            </a:r>
          </a:p>
        </p:txBody>
      </p:sp>
      <p:sp>
        <p:nvSpPr>
          <p:cNvPr id="26" name="TextBox 25"/>
          <p:cNvSpPr txBox="1"/>
          <p:nvPr/>
        </p:nvSpPr>
        <p:spPr>
          <a:xfrm>
            <a:off x="2849819" y="4846320"/>
            <a:ext cx="1981139" cy="914400"/>
          </a:xfrm>
          <a:prstGeom prst="rect">
            <a:avLst/>
          </a:prstGeom>
          <a:noFill/>
        </p:spPr>
        <p:txBody>
          <a:bodyPr wrap="square">
            <a:spAutoFit/>
          </a:bodyPr>
          <a:lstStyle/>
          <a:p>
            <a:pPr algn="ctr">
              <a:spcAft>
                <a:spcPts val="200"/>
              </a:spcAft>
            </a:pPr>
            <a:r>
              <a:rPr sz="2700" b="1">
                <a:solidFill>
                  <a:srgbClr val="82C0A4"/>
                </a:solidFill>
                <a:latin typeface="Segoe UI"/>
              </a:rPr>
              <a:t>698</a:t>
            </a:r>
          </a:p>
          <a:p>
            <a:pPr algn="ctr">
              <a:spcAft>
                <a:spcPts val="200"/>
              </a:spcAft>
            </a:pPr>
            <a:r>
              <a:rPr sz="1100" b="0">
                <a:solidFill>
                  <a:srgbClr val="6B716E"/>
                </a:solidFill>
                <a:latin typeface="Segoe UI"/>
              </a:rPr>
              <a:t>Python modules</a:t>
            </a:r>
          </a:p>
        </p:txBody>
      </p:sp>
      <p:sp>
        <p:nvSpPr>
          <p:cNvPr id="27" name="TextBox 26"/>
          <p:cNvSpPr txBox="1"/>
          <p:nvPr/>
        </p:nvSpPr>
        <p:spPr>
          <a:xfrm>
            <a:off x="5013838" y="4846320"/>
            <a:ext cx="1981139" cy="914400"/>
          </a:xfrm>
          <a:prstGeom prst="rect">
            <a:avLst/>
          </a:prstGeom>
          <a:noFill/>
        </p:spPr>
        <p:txBody>
          <a:bodyPr wrap="square">
            <a:spAutoFit/>
          </a:bodyPr>
          <a:lstStyle/>
          <a:p>
            <a:pPr algn="ctr">
              <a:spcAft>
                <a:spcPts val="200"/>
              </a:spcAft>
            </a:pPr>
            <a:r>
              <a:rPr sz="2700" b="1">
                <a:solidFill>
                  <a:srgbClr val="82C0A4"/>
                </a:solidFill>
                <a:latin typeface="Segoe UI"/>
              </a:rPr>
              <a:t>~3,000</a:t>
            </a:r>
          </a:p>
          <a:p>
            <a:pPr algn="ctr">
              <a:spcAft>
                <a:spcPts val="200"/>
              </a:spcAft>
            </a:pPr>
            <a:r>
              <a:rPr sz="1100" b="0">
                <a:solidFill>
                  <a:srgbClr val="6B716E"/>
                </a:solidFill>
                <a:latin typeface="Segoe UI"/>
              </a:rPr>
              <a:t>automated tests</a:t>
            </a:r>
          </a:p>
        </p:txBody>
      </p:sp>
      <p:sp>
        <p:nvSpPr>
          <p:cNvPr id="28" name="TextBox 27"/>
          <p:cNvSpPr txBox="1"/>
          <p:nvPr/>
        </p:nvSpPr>
        <p:spPr>
          <a:xfrm>
            <a:off x="7177857" y="4846320"/>
            <a:ext cx="1981139" cy="914400"/>
          </a:xfrm>
          <a:prstGeom prst="rect">
            <a:avLst/>
          </a:prstGeom>
          <a:noFill/>
        </p:spPr>
        <p:txBody>
          <a:bodyPr wrap="square">
            <a:spAutoFit/>
          </a:bodyPr>
          <a:lstStyle/>
          <a:p>
            <a:pPr algn="ctr">
              <a:spcAft>
                <a:spcPts val="200"/>
              </a:spcAft>
            </a:pPr>
            <a:r>
              <a:rPr sz="2700" b="1">
                <a:solidFill>
                  <a:srgbClr val="82C0A4"/>
                </a:solidFill>
                <a:latin typeface="Segoe UI"/>
              </a:rPr>
              <a:t>17</a:t>
            </a:r>
          </a:p>
          <a:p>
            <a:pPr algn="ctr">
              <a:spcAft>
                <a:spcPts val="200"/>
              </a:spcAft>
            </a:pPr>
            <a:r>
              <a:rPr sz="1100" b="0">
                <a:solidFill>
                  <a:srgbClr val="6B716E"/>
                </a:solidFill>
                <a:latin typeface="Segoe UI"/>
              </a:rPr>
              <a:t>architecture decision records</a:t>
            </a:r>
          </a:p>
        </p:txBody>
      </p:sp>
      <p:sp>
        <p:nvSpPr>
          <p:cNvPr id="29" name="TextBox 28"/>
          <p:cNvSpPr txBox="1"/>
          <p:nvPr/>
        </p:nvSpPr>
        <p:spPr>
          <a:xfrm>
            <a:off x="9341876" y="4846320"/>
            <a:ext cx="1981139" cy="914400"/>
          </a:xfrm>
          <a:prstGeom prst="rect">
            <a:avLst/>
          </a:prstGeom>
          <a:noFill/>
        </p:spPr>
        <p:txBody>
          <a:bodyPr wrap="square">
            <a:spAutoFit/>
          </a:bodyPr>
          <a:lstStyle/>
          <a:p>
            <a:pPr algn="ctr">
              <a:spcAft>
                <a:spcPts val="200"/>
              </a:spcAft>
            </a:pPr>
            <a:r>
              <a:rPr sz="2700" b="1">
                <a:solidFill>
                  <a:srgbClr val="82C0A4"/>
                </a:solidFill>
                <a:latin typeface="Segoe UI"/>
              </a:rPr>
              <a:t>8</a:t>
            </a:r>
          </a:p>
          <a:p>
            <a:pPr algn="ctr">
              <a:spcAft>
                <a:spcPts val="200"/>
              </a:spcAft>
            </a:pPr>
            <a:r>
              <a:rPr sz="1100" b="0">
                <a:solidFill>
                  <a:srgbClr val="6B716E"/>
                </a:solidFill>
                <a:latin typeface="Segoe UI"/>
              </a:rPr>
              <a:t>detector loops</a:t>
            </a:r>
          </a:p>
        </p:txBody>
      </p:sp>
      <p:sp>
        <p:nvSpPr>
          <p:cNvPr id="30" name="TextBox 29"/>
          <p:cNvSpPr txBox="1"/>
          <p:nvPr/>
        </p:nvSpPr>
        <p:spPr>
          <a:xfrm>
            <a:off x="10332720" y="6382512"/>
            <a:ext cx="1463040" cy="274320"/>
          </a:xfrm>
          <a:prstGeom prst="rect">
            <a:avLst/>
          </a:prstGeom>
          <a:noFill/>
        </p:spPr>
        <p:txBody>
          <a:bodyPr wrap="square">
            <a:spAutoFit/>
          </a:bodyPr>
          <a:lstStyle/>
          <a:p>
            <a:pPr algn="r">
              <a:spcAft>
                <a:spcPts val="600"/>
              </a:spcAft>
            </a:pPr>
            <a:r>
              <a:rPr sz="900" b="0">
                <a:solidFill>
                  <a:srgbClr val="6B716E"/>
                </a:solidFill>
                <a:latin typeface="Segoe UI"/>
              </a:rPr>
              <a:t>CortexPrime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10896"/>
            <a:ext cx="10058400" cy="274320"/>
          </a:xfrm>
          <a:prstGeom prst="rect">
            <a:avLst/>
          </a:prstGeom>
          <a:noFill/>
        </p:spPr>
        <p:txBody>
          <a:bodyPr wrap="square">
            <a:spAutoFit/>
          </a:bodyPr>
          <a:lstStyle/>
          <a:p>
            <a:pPr algn="l">
              <a:spcAft>
                <a:spcPts val="600"/>
              </a:spcAft>
            </a:pPr>
            <a:r>
              <a:rPr sz="1100" b="1">
                <a:solidFill>
                  <a:srgbClr val="82C0A4"/>
                </a:solidFill>
                <a:latin typeface="Segoe UI"/>
              </a:rPr>
              <a:t>QUALITY ASSURANCE</a:t>
            </a:r>
          </a:p>
        </p:txBody>
      </p:sp>
      <p:sp>
        <p:nvSpPr>
          <p:cNvPr id="5" name="TextBox 4"/>
          <p:cNvSpPr txBox="1"/>
          <p:nvPr/>
        </p:nvSpPr>
        <p:spPr>
          <a:xfrm>
            <a:off x="640080" y="548640"/>
            <a:ext cx="10972800" cy="640080"/>
          </a:xfrm>
          <a:prstGeom prst="rect">
            <a:avLst/>
          </a:prstGeom>
          <a:noFill/>
        </p:spPr>
        <p:txBody>
          <a:bodyPr wrap="square">
            <a:spAutoFit/>
          </a:bodyPr>
          <a:lstStyle/>
          <a:p>
            <a:pPr algn="l">
              <a:spcAft>
                <a:spcPts val="600"/>
              </a:spcAft>
            </a:pPr>
            <a:r>
              <a:rPr sz="2700" b="1">
                <a:solidFill>
                  <a:srgbClr val="F0F7F4"/>
                </a:solidFill>
                <a:latin typeface="Segoe UI"/>
              </a:rPr>
              <a:t>Testing and Self-Enforcing Architecture</a:t>
            </a:r>
          </a:p>
        </p:txBody>
      </p:sp>
      <p:sp>
        <p:nvSpPr>
          <p:cNvPr id="6" name="Rectangle 5"/>
          <p:cNvSpPr/>
          <p:nvPr/>
        </p:nvSpPr>
        <p:spPr>
          <a:xfrm>
            <a:off x="658368" y="1207008"/>
            <a:ext cx="1097280" cy="32004"/>
          </a:xfrm>
          <a:prstGeom prst="rect">
            <a:avLst/>
          </a:prstGeom>
          <a:solidFill>
            <a:srgbClr val="4A8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85800" y="1572768"/>
          <a:ext cx="10789918" cy="2560320"/>
        </p:xfrm>
        <a:graphic>
          <a:graphicData uri="http://schemas.openxmlformats.org/drawingml/2006/table">
            <a:tbl>
              <a:tblPr firstRow="1" bandRow="1">
                <a:tableStyleId>{5C22544A-7EE6-4342-B048-85BDC9FD1C3A}</a:tableStyleId>
              </a:tblPr>
              <a:tblGrid>
                <a:gridCol w="2621849"/>
                <a:gridCol w="6554624"/>
                <a:gridCol w="1613445"/>
              </a:tblGrid>
              <a:tr h="365760">
                <a:tc>
                  <a:txBody>
                    <a:bodyPr/>
                    <a:lstStyle/>
                    <a:p>
                      <a:r>
                        <a:rPr sz="1200" b="1">
                          <a:solidFill>
                            <a:srgbClr val="F0F7F4"/>
                          </a:solidFill>
                          <a:latin typeface="Segoe UI"/>
                        </a:rPr>
                        <a:t>Level</a:t>
                      </a:r>
                    </a:p>
                  </a:txBody>
                  <a:tcPr anchor="ctr">
                    <a:solidFill>
                      <a:srgbClr val="4A8C70"/>
                    </a:solidFill>
                  </a:tcPr>
                </a:tc>
                <a:tc>
                  <a:txBody>
                    <a:bodyPr/>
                    <a:lstStyle/>
                    <a:p>
                      <a:r>
                        <a:rPr sz="1200" b="1">
                          <a:solidFill>
                            <a:srgbClr val="F0F7F4"/>
                          </a:solidFill>
                          <a:latin typeface="Segoe UI"/>
                        </a:rPr>
                        <a:t>What it proves</a:t>
                      </a:r>
                    </a:p>
                  </a:txBody>
                  <a:tcPr anchor="ctr">
                    <a:solidFill>
                      <a:srgbClr val="4A8C70"/>
                    </a:solidFill>
                  </a:tcPr>
                </a:tc>
                <a:tc>
                  <a:txBody>
                    <a:bodyPr/>
                    <a:lstStyle/>
                    <a:p>
                      <a:r>
                        <a:rPr sz="1200" b="1">
                          <a:solidFill>
                            <a:srgbClr val="F0F7F4"/>
                          </a:solidFill>
                          <a:latin typeface="Segoe UI"/>
                        </a:rPr>
                        <a:t>Count</a:t>
                      </a:r>
                    </a:p>
                  </a:txBody>
                  <a:tcPr anchor="ctr">
                    <a:solidFill>
                      <a:srgbClr val="4A8C70"/>
                    </a:solidFill>
                  </a:tcPr>
                </a:tc>
              </a:tr>
              <a:tr h="365760">
                <a:tc>
                  <a:txBody>
                    <a:bodyPr/>
                    <a:lstStyle/>
                    <a:p>
                      <a:r>
                        <a:rPr sz="1100" b="1">
                          <a:solidFill>
                            <a:srgbClr val="F0F7F4"/>
                          </a:solidFill>
                          <a:latin typeface="Segoe UI"/>
                        </a:rPr>
                        <a:t>Unit tests</a:t>
                      </a:r>
                    </a:p>
                  </a:txBody>
                  <a:tcPr anchor="ctr">
                    <a:solidFill>
                      <a:srgbClr val="121A16"/>
                    </a:solidFill>
                  </a:tcPr>
                </a:tc>
                <a:tc>
                  <a:txBody>
                    <a:bodyPr/>
                    <a:lstStyle/>
                    <a:p>
                      <a:r>
                        <a:rPr sz="1100" b="0">
                          <a:solidFill>
                            <a:srgbClr val="A6ADAA"/>
                          </a:solidFill>
                          <a:latin typeface="Segoe UI"/>
                        </a:rPr>
                        <a:t>Individual functions behave correctly</a:t>
                      </a:r>
                    </a:p>
                  </a:txBody>
                  <a:tcPr anchor="ctr">
                    <a:solidFill>
                      <a:srgbClr val="121A16"/>
                    </a:solidFill>
                  </a:tcPr>
                </a:tc>
                <a:tc>
                  <a:txBody>
                    <a:bodyPr/>
                    <a:lstStyle/>
                    <a:p>
                      <a:r>
                        <a:rPr sz="1100" b="0">
                          <a:solidFill>
                            <a:srgbClr val="A6ADAA"/>
                          </a:solidFill>
                          <a:latin typeface="Segoe UI"/>
                        </a:rPr>
                        <a:t>~2,400</a:t>
                      </a:r>
                    </a:p>
                  </a:txBody>
                  <a:tcPr anchor="ctr">
                    <a:solidFill>
                      <a:srgbClr val="121A16"/>
                    </a:solidFill>
                  </a:tcPr>
                </a:tc>
              </a:tr>
              <a:tr h="365760">
                <a:tc>
                  <a:txBody>
                    <a:bodyPr/>
                    <a:lstStyle/>
                    <a:p>
                      <a:r>
                        <a:rPr sz="1100" b="1">
                          <a:solidFill>
                            <a:srgbClr val="F0F7F4"/>
                          </a:solidFill>
                          <a:latin typeface="Segoe UI"/>
                        </a:rPr>
                        <a:t>Contract tests</a:t>
                      </a:r>
                    </a:p>
                  </a:txBody>
                  <a:tcPr anchor="ctr">
                    <a:solidFill>
                      <a:srgbClr val="1A2520"/>
                    </a:solidFill>
                  </a:tcPr>
                </a:tc>
                <a:tc>
                  <a:txBody>
                    <a:bodyPr/>
                    <a:lstStyle/>
                    <a:p>
                      <a:r>
                        <a:rPr sz="1100" b="0">
                          <a:solidFill>
                            <a:srgbClr val="A6ADAA"/>
                          </a:solidFill>
                          <a:latin typeface="Segoe UI"/>
                        </a:rPr>
                        <a:t>Module boundaries hold</a:t>
                      </a:r>
                    </a:p>
                  </a:txBody>
                  <a:tcPr anchor="ctr">
                    <a:solidFill>
                      <a:srgbClr val="1A2520"/>
                    </a:solidFill>
                  </a:tcPr>
                </a:tc>
                <a:tc>
                  <a:txBody>
                    <a:bodyPr/>
                    <a:lstStyle/>
                    <a:p>
                      <a:r>
                        <a:rPr sz="1100" b="0">
                          <a:solidFill>
                            <a:srgbClr val="A6ADAA"/>
                          </a:solidFill>
                          <a:latin typeface="Segoe UI"/>
                        </a:rPr>
                        <a:t>190</a:t>
                      </a:r>
                    </a:p>
                  </a:txBody>
                  <a:tcPr anchor="ctr">
                    <a:solidFill>
                      <a:srgbClr val="1A2520"/>
                    </a:solidFill>
                  </a:tcPr>
                </a:tc>
              </a:tr>
              <a:tr h="365760">
                <a:tc>
                  <a:txBody>
                    <a:bodyPr/>
                    <a:lstStyle/>
                    <a:p>
                      <a:r>
                        <a:rPr sz="1100" b="1">
                          <a:solidFill>
                            <a:srgbClr val="F0F7F4"/>
                          </a:solidFill>
                          <a:latin typeface="Segoe UI"/>
                        </a:rPr>
                        <a:t>Platform tests</a:t>
                      </a:r>
                    </a:p>
                  </a:txBody>
                  <a:tcPr anchor="ctr">
                    <a:solidFill>
                      <a:srgbClr val="121A16"/>
                    </a:solidFill>
                  </a:tcPr>
                </a:tc>
                <a:tc>
                  <a:txBody>
                    <a:bodyPr/>
                    <a:lstStyle/>
                    <a:p>
                      <a:r>
                        <a:rPr sz="1100" b="0">
                          <a:solidFill>
                            <a:srgbClr val="A6ADAA"/>
                          </a:solidFill>
                          <a:latin typeface="Segoe UI"/>
                        </a:rPr>
                        <a:t>Identity, hashing, events, audit, context</a:t>
                      </a:r>
                    </a:p>
                  </a:txBody>
                  <a:tcPr anchor="ctr">
                    <a:solidFill>
                      <a:srgbClr val="121A16"/>
                    </a:solidFill>
                  </a:tcPr>
                </a:tc>
                <a:tc>
                  <a:txBody>
                    <a:bodyPr/>
                    <a:lstStyle/>
                    <a:p>
                      <a:r>
                        <a:rPr sz="1100" b="0">
                          <a:solidFill>
                            <a:srgbClr val="A6ADAA"/>
                          </a:solidFill>
                          <a:latin typeface="Segoe UI"/>
                        </a:rPr>
                        <a:t>440</a:t>
                      </a:r>
                    </a:p>
                  </a:txBody>
                  <a:tcPr anchor="ctr">
                    <a:solidFill>
                      <a:srgbClr val="121A16"/>
                    </a:solidFill>
                  </a:tcPr>
                </a:tc>
              </a:tr>
              <a:tr h="365760">
                <a:tc>
                  <a:txBody>
                    <a:bodyPr/>
                    <a:lstStyle/>
                    <a:p>
                      <a:r>
                        <a:rPr sz="1100" b="1">
                          <a:solidFill>
                            <a:srgbClr val="F0F7F4"/>
                          </a:solidFill>
                          <a:latin typeface="Segoe UI"/>
                        </a:rPr>
                        <a:t>Adversarial tests</a:t>
                      </a:r>
                    </a:p>
                  </a:txBody>
                  <a:tcPr anchor="ctr">
                    <a:solidFill>
                      <a:srgbClr val="1A2520"/>
                    </a:solidFill>
                  </a:tcPr>
                </a:tc>
                <a:tc>
                  <a:txBody>
                    <a:bodyPr/>
                    <a:lstStyle/>
                    <a:p>
                      <a:r>
                        <a:rPr sz="1100" b="0">
                          <a:solidFill>
                            <a:srgbClr val="A6ADAA"/>
                          </a:solidFill>
                          <a:latin typeface="Segoe UI"/>
                        </a:rPr>
                        <a:t>Security controls survive deliberate attack</a:t>
                      </a:r>
                    </a:p>
                  </a:txBody>
                  <a:tcPr anchor="ctr">
                    <a:solidFill>
                      <a:srgbClr val="1A2520"/>
                    </a:solidFill>
                  </a:tcPr>
                </a:tc>
                <a:tc>
                  <a:txBody>
                    <a:bodyPr/>
                    <a:lstStyle/>
                    <a:p>
                      <a:r>
                        <a:rPr sz="1100" b="0">
                          <a:solidFill>
                            <a:srgbClr val="A6ADAA"/>
                          </a:solidFill>
                          <a:latin typeface="Segoe UI"/>
                        </a:rPr>
                        <a:t>150</a:t>
                      </a:r>
                    </a:p>
                  </a:txBody>
                  <a:tcPr anchor="ctr">
                    <a:solidFill>
                      <a:srgbClr val="1A2520"/>
                    </a:solidFill>
                  </a:tcPr>
                </a:tc>
              </a:tr>
              <a:tr h="365760">
                <a:tc>
                  <a:txBody>
                    <a:bodyPr/>
                    <a:lstStyle/>
                    <a:p>
                      <a:r>
                        <a:rPr sz="1100" b="1">
                          <a:solidFill>
                            <a:srgbClr val="F0F7F4"/>
                          </a:solidFill>
                          <a:latin typeface="Segoe UI"/>
                        </a:rPr>
                        <a:t>Architecture tests</a:t>
                      </a:r>
                    </a:p>
                  </a:txBody>
                  <a:tcPr anchor="ctr">
                    <a:solidFill>
                      <a:srgbClr val="121A16"/>
                    </a:solidFill>
                  </a:tcPr>
                </a:tc>
                <a:tc>
                  <a:txBody>
                    <a:bodyPr/>
                    <a:lstStyle/>
                    <a:p>
                      <a:r>
                        <a:rPr sz="1100" b="0">
                          <a:solidFill>
                            <a:srgbClr val="A6ADAA"/>
                          </a:solidFill>
                          <a:latin typeface="Segoe UI"/>
                        </a:rPr>
                        <a:t>Every architectural rule catches its own violation</a:t>
                      </a:r>
                    </a:p>
                  </a:txBody>
                  <a:tcPr anchor="ctr">
                    <a:solidFill>
                      <a:srgbClr val="121A16"/>
                    </a:solidFill>
                  </a:tcPr>
                </a:tc>
                <a:tc>
                  <a:txBody>
                    <a:bodyPr/>
                    <a:lstStyle/>
                    <a:p>
                      <a:r>
                        <a:rPr sz="1100" b="0">
                          <a:solidFill>
                            <a:srgbClr val="A6ADAA"/>
                          </a:solidFill>
                          <a:latin typeface="Segoe UI"/>
                        </a:rPr>
                        <a:t>92</a:t>
                      </a:r>
                    </a:p>
                  </a:txBody>
                  <a:tcPr anchor="ctr">
                    <a:solidFill>
                      <a:srgbClr val="121A16"/>
                    </a:solidFill>
                  </a:tcPr>
                </a:tc>
              </a:tr>
              <a:tr h="365760">
                <a:tc>
                  <a:txBody>
                    <a:bodyPr/>
                    <a:lstStyle/>
                    <a:p>
                      <a:r>
                        <a:rPr sz="1100" b="1">
                          <a:solidFill>
                            <a:srgbClr val="F0F7F4"/>
                          </a:solidFill>
                          <a:latin typeface="Segoe UI"/>
                        </a:rPr>
                        <a:t>Live validation</a:t>
                      </a:r>
                    </a:p>
                  </a:txBody>
                  <a:tcPr anchor="ctr">
                    <a:solidFill>
                      <a:srgbClr val="1A2520"/>
                    </a:solidFill>
                  </a:tcPr>
                </a:tc>
                <a:tc>
                  <a:txBody>
                    <a:bodyPr/>
                    <a:lstStyle/>
                    <a:p>
                      <a:r>
                        <a:rPr sz="1100" b="0">
                          <a:solidFill>
                            <a:srgbClr val="A6ADAA"/>
                          </a:solidFill>
                          <a:latin typeface="Segoe UI"/>
                        </a:rPr>
                        <a:t>Real Docker, real Jira tickets, real database</a:t>
                      </a:r>
                    </a:p>
                  </a:txBody>
                  <a:tcPr anchor="ctr">
                    <a:solidFill>
                      <a:srgbClr val="1A2520"/>
                    </a:solidFill>
                  </a:tcPr>
                </a:tc>
                <a:tc>
                  <a:txBody>
                    <a:bodyPr/>
                    <a:lstStyle/>
                    <a:p>
                      <a:r>
                        <a:rPr sz="1100" b="0">
                          <a:solidFill>
                            <a:srgbClr val="A6ADAA"/>
                          </a:solidFill>
                          <a:latin typeface="Segoe UI"/>
                        </a:rPr>
                        <a:t>Manual</a:t>
                      </a:r>
                    </a:p>
                  </a:txBody>
                  <a:tcPr anchor="ctr">
                    <a:solidFill>
                      <a:srgbClr val="1A2520"/>
                    </a:solidFill>
                  </a:tcPr>
                </a:tc>
              </a:tr>
            </a:tbl>
          </a:graphicData>
        </a:graphic>
      </p:graphicFrame>
      <p:sp>
        <p:nvSpPr>
          <p:cNvPr id="8" name="TextBox 7"/>
          <p:cNvSpPr txBox="1"/>
          <p:nvPr/>
        </p:nvSpPr>
        <p:spPr>
          <a:xfrm>
            <a:off x="685800" y="4251960"/>
            <a:ext cx="2522143" cy="914400"/>
          </a:xfrm>
          <a:prstGeom prst="rect">
            <a:avLst/>
          </a:prstGeom>
          <a:noFill/>
        </p:spPr>
        <p:txBody>
          <a:bodyPr wrap="square">
            <a:spAutoFit/>
          </a:bodyPr>
          <a:lstStyle/>
          <a:p>
            <a:pPr algn="ctr">
              <a:spcAft>
                <a:spcPts val="200"/>
              </a:spcAft>
            </a:pPr>
            <a:r>
              <a:rPr sz="2700" b="1">
                <a:solidFill>
                  <a:srgbClr val="82C0A4"/>
                </a:solidFill>
                <a:latin typeface="Segoe UI"/>
              </a:rPr>
              <a:t>13</a:t>
            </a:r>
          </a:p>
          <a:p>
            <a:pPr algn="ctr">
              <a:spcAft>
                <a:spcPts val="200"/>
              </a:spcAft>
            </a:pPr>
            <a:r>
              <a:rPr sz="1100" b="0">
                <a:solidFill>
                  <a:srgbClr val="6B716E"/>
                </a:solidFill>
                <a:latin typeface="Segoe UI"/>
              </a:rPr>
              <a:t>architecture rules in CI</a:t>
            </a:r>
          </a:p>
        </p:txBody>
      </p:sp>
      <p:sp>
        <p:nvSpPr>
          <p:cNvPr id="9" name="TextBox 8"/>
          <p:cNvSpPr txBox="1"/>
          <p:nvPr/>
        </p:nvSpPr>
        <p:spPr>
          <a:xfrm>
            <a:off x="3390823" y="4251960"/>
            <a:ext cx="2522143" cy="914400"/>
          </a:xfrm>
          <a:prstGeom prst="rect">
            <a:avLst/>
          </a:prstGeom>
          <a:noFill/>
        </p:spPr>
        <p:txBody>
          <a:bodyPr wrap="square">
            <a:spAutoFit/>
          </a:bodyPr>
          <a:lstStyle/>
          <a:p>
            <a:pPr algn="ctr">
              <a:spcAft>
                <a:spcPts val="200"/>
              </a:spcAft>
            </a:pPr>
            <a:r>
              <a:rPr sz="2700" b="1">
                <a:solidFill>
                  <a:srgbClr val="82C0A4"/>
                </a:solidFill>
                <a:latin typeface="Segoe UI"/>
              </a:rPr>
              <a:t>752</a:t>
            </a:r>
          </a:p>
          <a:p>
            <a:pPr algn="ctr">
              <a:spcAft>
                <a:spcPts val="200"/>
              </a:spcAft>
            </a:pPr>
            <a:r>
              <a:rPr sz="1100" b="0">
                <a:solidFill>
                  <a:srgbClr val="6B716E"/>
                </a:solidFill>
                <a:latin typeface="Segoe UI"/>
              </a:rPr>
              <a:t>modules analysed</a:t>
            </a:r>
          </a:p>
        </p:txBody>
      </p:sp>
      <p:sp>
        <p:nvSpPr>
          <p:cNvPr id="10" name="TextBox 9"/>
          <p:cNvSpPr txBox="1"/>
          <p:nvPr/>
        </p:nvSpPr>
        <p:spPr>
          <a:xfrm>
            <a:off x="6095847" y="4251960"/>
            <a:ext cx="2522143" cy="914400"/>
          </a:xfrm>
          <a:prstGeom prst="rect">
            <a:avLst/>
          </a:prstGeom>
          <a:noFill/>
        </p:spPr>
        <p:txBody>
          <a:bodyPr wrap="square">
            <a:spAutoFit/>
          </a:bodyPr>
          <a:lstStyle/>
          <a:p>
            <a:pPr algn="ctr">
              <a:spcAft>
                <a:spcPts val="200"/>
              </a:spcAft>
            </a:pPr>
            <a:r>
              <a:rPr sz="2700" b="1">
                <a:solidFill>
                  <a:srgbClr val="82C0A4"/>
                </a:solidFill>
                <a:latin typeface="Segoe UI"/>
              </a:rPr>
              <a:t>0</a:t>
            </a:r>
          </a:p>
          <a:p>
            <a:pPr algn="ctr">
              <a:spcAft>
                <a:spcPts val="200"/>
              </a:spcAft>
            </a:pPr>
            <a:r>
              <a:rPr sz="1100" b="0">
                <a:solidFill>
                  <a:srgbClr val="6B716E"/>
                </a:solidFill>
                <a:latin typeface="Segoe UI"/>
              </a:rPr>
              <a:t>violations</a:t>
            </a:r>
          </a:p>
        </p:txBody>
      </p:sp>
      <p:sp>
        <p:nvSpPr>
          <p:cNvPr id="11" name="TextBox 10"/>
          <p:cNvSpPr txBox="1"/>
          <p:nvPr/>
        </p:nvSpPr>
        <p:spPr>
          <a:xfrm>
            <a:off x="8800871" y="4251960"/>
            <a:ext cx="2522143" cy="914400"/>
          </a:xfrm>
          <a:prstGeom prst="rect">
            <a:avLst/>
          </a:prstGeom>
          <a:noFill/>
        </p:spPr>
        <p:txBody>
          <a:bodyPr wrap="square">
            <a:spAutoFit/>
          </a:bodyPr>
          <a:lstStyle/>
          <a:p>
            <a:pPr algn="ctr">
              <a:spcAft>
                <a:spcPts val="200"/>
              </a:spcAft>
            </a:pPr>
            <a:r>
              <a:rPr sz="2700" b="1">
                <a:solidFill>
                  <a:srgbClr val="82C0A4"/>
                </a:solidFill>
                <a:latin typeface="Segoe UI"/>
              </a:rPr>
              <a:t>100%</a:t>
            </a:r>
          </a:p>
          <a:p>
            <a:pPr algn="ctr">
              <a:spcAft>
                <a:spcPts val="200"/>
              </a:spcAft>
            </a:pPr>
            <a:r>
              <a:rPr sz="1100" b="0">
                <a:solidFill>
                  <a:srgbClr val="6B716E"/>
                </a:solidFill>
                <a:latin typeface="Segoe UI"/>
              </a:rPr>
              <a:t>invariants covered by tests</a:t>
            </a:r>
          </a:p>
        </p:txBody>
      </p:sp>
      <p:sp>
        <p:nvSpPr>
          <p:cNvPr id="12" name="Rounded Rectangle 11"/>
          <p:cNvSpPr/>
          <p:nvPr/>
        </p:nvSpPr>
        <p:spPr>
          <a:xfrm>
            <a:off x="685800" y="5532120"/>
            <a:ext cx="10789920" cy="731520"/>
          </a:xfrm>
          <a:prstGeom prst="roundRect">
            <a:avLst/>
          </a:prstGeom>
          <a:solidFill>
            <a:srgbClr val="1A2520"/>
          </a:solidFill>
          <a:ln w="12700">
            <a:solidFill>
              <a:srgbClr val="313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5532120"/>
            <a:ext cx="50292" cy="731520"/>
          </a:xfrm>
          <a:prstGeom prst="rect">
            <a:avLst/>
          </a:prstGeom>
          <a:solidFill>
            <a:srgbClr val="38B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660136"/>
            <a:ext cx="10424160" cy="548640"/>
          </a:xfrm>
          <a:prstGeom prst="rect">
            <a:avLst/>
          </a:prstGeom>
          <a:noFill/>
        </p:spPr>
        <p:txBody>
          <a:bodyPr wrap="square">
            <a:spAutoFit/>
          </a:bodyPr>
          <a:lstStyle/>
          <a:p>
            <a:pPr algn="l">
              <a:spcAft>
                <a:spcPts val="600"/>
              </a:spcAft>
            </a:pPr>
            <a:r>
              <a:rPr sz="1300" b="0">
                <a:solidFill>
                  <a:srgbClr val="F0F7F4"/>
                </a:solidFill>
                <a:latin typeface="Segoe UI"/>
              </a:rPr>
              <a:t>Architectural drift is a build failure, not a code-review argument — each of the 13 rules is itself tested by deliberately breaking it.</a:t>
            </a:r>
          </a:p>
        </p:txBody>
      </p:sp>
      <p:sp>
        <p:nvSpPr>
          <p:cNvPr id="15" name="TextBox 14"/>
          <p:cNvSpPr txBox="1"/>
          <p:nvPr/>
        </p:nvSpPr>
        <p:spPr>
          <a:xfrm>
            <a:off x="10332720" y="6382512"/>
            <a:ext cx="1463040" cy="274320"/>
          </a:xfrm>
          <a:prstGeom prst="rect">
            <a:avLst/>
          </a:prstGeom>
          <a:noFill/>
        </p:spPr>
        <p:txBody>
          <a:bodyPr wrap="square">
            <a:spAutoFit/>
          </a:bodyPr>
          <a:lstStyle/>
          <a:p>
            <a:pPr algn="r">
              <a:spcAft>
                <a:spcPts val="600"/>
              </a:spcAft>
            </a:pPr>
            <a:r>
              <a:rPr sz="900" b="0">
                <a:solidFill>
                  <a:srgbClr val="6B716E"/>
                </a:solidFill>
                <a:latin typeface="Segoe UI"/>
              </a:rPr>
              <a:t>CortexPrime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10896"/>
            <a:ext cx="10058400" cy="274320"/>
          </a:xfrm>
          <a:prstGeom prst="rect">
            <a:avLst/>
          </a:prstGeom>
          <a:noFill/>
        </p:spPr>
        <p:txBody>
          <a:bodyPr wrap="square">
            <a:spAutoFit/>
          </a:bodyPr>
          <a:lstStyle/>
          <a:p>
            <a:pPr algn="l">
              <a:spcAft>
                <a:spcPts val="600"/>
              </a:spcAft>
            </a:pPr>
            <a:r>
              <a:rPr sz="1100" b="1">
                <a:solidFill>
                  <a:srgbClr val="82C0A4"/>
                </a:solidFill>
                <a:latin typeface="Segoe UI"/>
              </a:rPr>
              <a:t>SUMMARY</a:t>
            </a:r>
          </a:p>
        </p:txBody>
      </p:sp>
      <p:sp>
        <p:nvSpPr>
          <p:cNvPr id="5" name="TextBox 4"/>
          <p:cNvSpPr txBox="1"/>
          <p:nvPr/>
        </p:nvSpPr>
        <p:spPr>
          <a:xfrm>
            <a:off x="640080" y="548640"/>
            <a:ext cx="10972800" cy="640080"/>
          </a:xfrm>
          <a:prstGeom prst="rect">
            <a:avLst/>
          </a:prstGeom>
          <a:noFill/>
        </p:spPr>
        <p:txBody>
          <a:bodyPr wrap="square">
            <a:spAutoFit/>
          </a:bodyPr>
          <a:lstStyle/>
          <a:p>
            <a:pPr algn="l">
              <a:spcAft>
                <a:spcPts val="600"/>
              </a:spcAft>
            </a:pPr>
            <a:r>
              <a:rPr sz="2700" b="1">
                <a:solidFill>
                  <a:srgbClr val="F0F7F4"/>
                </a:solidFill>
                <a:latin typeface="Segoe UI"/>
              </a:rPr>
              <a:t>Conclusion and Future Scope</a:t>
            </a:r>
          </a:p>
        </p:txBody>
      </p:sp>
      <p:sp>
        <p:nvSpPr>
          <p:cNvPr id="6" name="Rectangle 5"/>
          <p:cNvSpPr/>
          <p:nvPr/>
        </p:nvSpPr>
        <p:spPr>
          <a:xfrm>
            <a:off x="658368" y="1207008"/>
            <a:ext cx="1097280" cy="32004"/>
          </a:xfrm>
          <a:prstGeom prst="rect">
            <a:avLst/>
          </a:prstGeom>
          <a:solidFill>
            <a:srgbClr val="4A8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81328"/>
            <a:ext cx="5212080" cy="274320"/>
          </a:xfrm>
          <a:prstGeom prst="rect">
            <a:avLst/>
          </a:prstGeom>
          <a:noFill/>
        </p:spPr>
        <p:txBody>
          <a:bodyPr wrap="square">
            <a:spAutoFit/>
          </a:bodyPr>
          <a:lstStyle/>
          <a:p>
            <a:pPr algn="l">
              <a:spcAft>
                <a:spcPts val="600"/>
              </a:spcAft>
            </a:pPr>
            <a:r>
              <a:rPr sz="1100" b="1">
                <a:solidFill>
                  <a:srgbClr val="82C0A4"/>
                </a:solidFill>
                <a:latin typeface="Segoe UI"/>
              </a:rPr>
              <a:t>WHAT THIS PROJECT ACHIEVED</a:t>
            </a:r>
          </a:p>
        </p:txBody>
      </p:sp>
      <p:sp>
        <p:nvSpPr>
          <p:cNvPr id="8" name="TextBox 7"/>
          <p:cNvSpPr txBox="1"/>
          <p:nvPr/>
        </p:nvSpPr>
        <p:spPr>
          <a:xfrm>
            <a:off x="685800" y="1810512"/>
            <a:ext cx="5166360" cy="4206240"/>
          </a:xfrm>
          <a:prstGeom prst="rect">
            <a:avLst/>
          </a:prstGeom>
          <a:noFill/>
        </p:spPr>
        <p:txBody>
          <a:bodyPr wrap="square">
            <a:spAutoFit/>
          </a:bodyPr>
          <a:lstStyle/>
          <a:p>
            <a:pPr>
              <a:spcAft>
                <a:spcPts val="300"/>
              </a:spcAft>
            </a:pPr>
            <a:r>
              <a:rPr sz="1400" b="1">
                <a:solidFill>
                  <a:srgbClr val="82C0A4"/>
                </a:solidFill>
                <a:latin typeface="Segoe UI Symbol"/>
              </a:rPr>
              <a:t>▸  </a:t>
            </a:r>
            <a:r>
              <a:rPr sz="1400" b="1">
                <a:solidFill>
                  <a:srgbClr val="F0F7F4"/>
                </a:solidFill>
                <a:latin typeface="Segoe UI"/>
              </a:rPr>
              <a:t>The loop is closed</a:t>
            </a:r>
          </a:p>
          <a:p>
            <a:pPr>
              <a:spcAft>
                <a:spcPts val="3400"/>
              </a:spcAft>
            </a:pPr>
            <a:r>
              <a:rPr sz="1050">
                <a:solidFill>
                  <a:srgbClr val="A6ADAA"/>
                </a:solidFill>
                <a:latin typeface="Segoe UI"/>
              </a:rPr>
              <a:t>     Eight detectors that explain, fix and verify — not just alert</a:t>
            </a:r>
          </a:p>
          <a:p>
            <a:pPr>
              <a:spcAft>
                <a:spcPts val="300"/>
              </a:spcAft>
            </a:pPr>
            <a:r>
              <a:rPr sz="1400" b="1">
                <a:solidFill>
                  <a:srgbClr val="82C0A4"/>
                </a:solidFill>
                <a:latin typeface="Segoe UI Symbol"/>
              </a:rPr>
              <a:t>▸  </a:t>
            </a:r>
            <a:r>
              <a:rPr sz="1400" b="1">
                <a:solidFill>
                  <a:srgbClr val="F0F7F4"/>
                </a:solidFill>
                <a:latin typeface="Segoe UI"/>
              </a:rPr>
              <a:t>Safety is structural</a:t>
            </a:r>
          </a:p>
          <a:p>
            <a:pPr>
              <a:spcAft>
                <a:spcPts val="3400"/>
              </a:spcAft>
            </a:pPr>
            <a:r>
              <a:rPr sz="1050">
                <a:solidFill>
                  <a:srgbClr val="A6ADAA"/>
                </a:solidFill>
                <a:latin typeface="Segoe UI"/>
              </a:rPr>
              <a:t>     Approval gating and cryptographic binding, enforced by CI</a:t>
            </a:r>
          </a:p>
          <a:p>
            <a:pPr>
              <a:spcAft>
                <a:spcPts val="300"/>
              </a:spcAft>
            </a:pPr>
            <a:r>
              <a:rPr sz="1400" b="1">
                <a:solidFill>
                  <a:srgbClr val="82C0A4"/>
                </a:solidFill>
                <a:latin typeface="Segoe UI Symbol"/>
              </a:rPr>
              <a:t>▸  </a:t>
            </a:r>
            <a:r>
              <a:rPr sz="1400" b="1">
                <a:solidFill>
                  <a:srgbClr val="F0F7F4"/>
                </a:solidFill>
                <a:latin typeface="Segoe UI"/>
              </a:rPr>
              <a:t>The architecture defends itself</a:t>
            </a:r>
          </a:p>
          <a:p>
            <a:pPr>
              <a:spcAft>
                <a:spcPts val="3400"/>
              </a:spcAft>
            </a:pPr>
            <a:r>
              <a:rPr sz="1050">
                <a:solidFill>
                  <a:srgbClr val="A6ADAA"/>
                </a:solidFill>
                <a:latin typeface="Segoe UI"/>
              </a:rPr>
              <a:t>     13 automated rules keep the design intact</a:t>
            </a:r>
          </a:p>
          <a:p>
            <a:pPr>
              <a:spcAft>
                <a:spcPts val="300"/>
              </a:spcAft>
            </a:pPr>
            <a:r>
              <a:rPr sz="1400" b="1">
                <a:solidFill>
                  <a:srgbClr val="82C0A4"/>
                </a:solidFill>
                <a:latin typeface="Segoe UI Symbol"/>
              </a:rPr>
              <a:t>▸  </a:t>
            </a:r>
            <a:r>
              <a:rPr sz="1400" b="1">
                <a:solidFill>
                  <a:srgbClr val="F0F7F4"/>
                </a:solidFill>
                <a:latin typeface="Segoe UI"/>
              </a:rPr>
              <a:t>Validated against reality</a:t>
            </a:r>
          </a:p>
          <a:p>
            <a:pPr>
              <a:spcAft>
                <a:spcPts val="3400"/>
              </a:spcAft>
            </a:pPr>
            <a:r>
              <a:rPr sz="1050">
                <a:solidFill>
                  <a:srgbClr val="A6ADAA"/>
                </a:solidFill>
                <a:latin typeface="Segoe UI"/>
              </a:rPr>
              <a:t>     Real containers, real tickets, real databases</a:t>
            </a:r>
          </a:p>
        </p:txBody>
      </p:sp>
      <p:sp>
        <p:nvSpPr>
          <p:cNvPr id="9" name="Rectangle 8"/>
          <p:cNvSpPr/>
          <p:nvPr/>
        </p:nvSpPr>
        <p:spPr>
          <a:xfrm>
            <a:off x="6089904" y="1554480"/>
            <a:ext cx="10972" cy="3566160"/>
          </a:xfrm>
          <a:prstGeom prst="rect">
            <a:avLst/>
          </a:prstGeom>
          <a:solidFill>
            <a:srgbClr val="3136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481328"/>
            <a:ext cx="5120640" cy="274320"/>
          </a:xfrm>
          <a:prstGeom prst="rect">
            <a:avLst/>
          </a:prstGeom>
          <a:noFill/>
        </p:spPr>
        <p:txBody>
          <a:bodyPr wrap="square">
            <a:spAutoFit/>
          </a:bodyPr>
          <a:lstStyle/>
          <a:p>
            <a:pPr algn="l">
              <a:spcAft>
                <a:spcPts val="600"/>
              </a:spcAft>
            </a:pPr>
            <a:r>
              <a:rPr sz="1100" b="1">
                <a:solidFill>
                  <a:srgbClr val="96CEAD"/>
                </a:solidFill>
                <a:latin typeface="Segoe UI"/>
              </a:rPr>
              <a:t>WHERE IT GOES NEXT</a:t>
            </a:r>
          </a:p>
        </p:txBody>
      </p:sp>
      <p:sp>
        <p:nvSpPr>
          <p:cNvPr id="11" name="TextBox 10"/>
          <p:cNvSpPr txBox="1"/>
          <p:nvPr/>
        </p:nvSpPr>
        <p:spPr>
          <a:xfrm>
            <a:off x="6355080" y="1810512"/>
            <a:ext cx="5120640" cy="4206240"/>
          </a:xfrm>
          <a:prstGeom prst="rect">
            <a:avLst/>
          </a:prstGeom>
          <a:noFill/>
        </p:spPr>
        <p:txBody>
          <a:bodyPr wrap="square">
            <a:spAutoFit/>
          </a:bodyPr>
          <a:lstStyle/>
          <a:p>
            <a:pPr>
              <a:spcAft>
                <a:spcPts val="300"/>
              </a:spcAft>
            </a:pPr>
            <a:r>
              <a:rPr sz="1400" b="1">
                <a:solidFill>
                  <a:srgbClr val="82C0A4"/>
                </a:solidFill>
                <a:latin typeface="Segoe UI Symbol"/>
              </a:rPr>
              <a:t>▸  </a:t>
            </a:r>
            <a:r>
              <a:rPr sz="1400" b="1">
                <a:solidFill>
                  <a:srgbClr val="F0F7F4"/>
                </a:solidFill>
                <a:latin typeface="Segoe UI"/>
              </a:rPr>
              <a:t>Open-ended missions</a:t>
            </a:r>
          </a:p>
          <a:p>
            <a:pPr>
              <a:spcAft>
                <a:spcPts val="3400"/>
              </a:spcAft>
            </a:pPr>
            <a:r>
              <a:rPr sz="1050">
                <a:solidFill>
                  <a:srgbClr val="A6ADAA"/>
                </a:solidFill>
                <a:latin typeface="Segoe UI"/>
              </a:rPr>
              <a:t>     Any goal in natural language, not ten fixed detectors</a:t>
            </a:r>
          </a:p>
          <a:p>
            <a:pPr>
              <a:spcAft>
                <a:spcPts val="300"/>
              </a:spcAft>
            </a:pPr>
            <a:r>
              <a:rPr sz="1400" b="1">
                <a:solidFill>
                  <a:srgbClr val="82C0A4"/>
                </a:solidFill>
                <a:latin typeface="Segoe UI Symbol"/>
              </a:rPr>
              <a:t>▸  </a:t>
            </a:r>
            <a:r>
              <a:rPr sz="1400" b="1">
                <a:solidFill>
                  <a:srgbClr val="F0F7F4"/>
                </a:solidFill>
                <a:latin typeface="Segoe UI"/>
              </a:rPr>
              <a:t>Tool-selection engine</a:t>
            </a:r>
          </a:p>
          <a:p>
            <a:pPr>
              <a:spcAft>
                <a:spcPts val="3400"/>
              </a:spcAft>
            </a:pPr>
            <a:r>
              <a:rPr sz="1050">
                <a:solidFill>
                  <a:srgbClr val="A6ADAA"/>
                </a:solidFill>
                <a:latin typeface="Segoe UI"/>
              </a:rPr>
              <a:t>     Choose which checks to run for an unseen problem</a:t>
            </a:r>
          </a:p>
          <a:p>
            <a:pPr>
              <a:spcAft>
                <a:spcPts val="300"/>
              </a:spcAft>
            </a:pPr>
            <a:r>
              <a:rPr sz="1400" b="1">
                <a:solidFill>
                  <a:srgbClr val="82C0A4"/>
                </a:solidFill>
                <a:latin typeface="Segoe UI Symbol"/>
              </a:rPr>
              <a:t>▸  </a:t>
            </a:r>
            <a:r>
              <a:rPr sz="1400" b="1">
                <a:solidFill>
                  <a:srgbClr val="F0F7F4"/>
                </a:solidFill>
                <a:latin typeface="Segoe UI"/>
              </a:rPr>
              <a:t>Kubernetes support</a:t>
            </a:r>
          </a:p>
          <a:p>
            <a:pPr>
              <a:spcAft>
                <a:spcPts val="3400"/>
              </a:spcAft>
            </a:pPr>
            <a:r>
              <a:rPr sz="1050">
                <a:solidFill>
                  <a:srgbClr val="A6ADAA"/>
                </a:solidFill>
                <a:latin typeface="Segoe UI"/>
              </a:rPr>
              <a:t>     Extend container health from Docker to clusters</a:t>
            </a:r>
          </a:p>
          <a:p>
            <a:pPr>
              <a:spcAft>
                <a:spcPts val="300"/>
              </a:spcAft>
            </a:pPr>
            <a:r>
              <a:rPr sz="1400" b="1">
                <a:solidFill>
                  <a:srgbClr val="82C0A4"/>
                </a:solidFill>
                <a:latin typeface="Segoe UI Symbol"/>
              </a:rPr>
              <a:t>▸  </a:t>
            </a:r>
            <a:r>
              <a:rPr sz="1400" b="1">
                <a:solidFill>
                  <a:srgbClr val="F0F7F4"/>
                </a:solidFill>
                <a:latin typeface="Segoe UI"/>
              </a:rPr>
              <a:t>Multi-tenant SaaS</a:t>
            </a:r>
          </a:p>
          <a:p>
            <a:pPr>
              <a:spcAft>
                <a:spcPts val="3400"/>
              </a:spcAft>
            </a:pPr>
            <a:r>
              <a:rPr sz="1050">
                <a:solidFill>
                  <a:srgbClr val="A6ADAA"/>
                </a:solidFill>
                <a:latin typeface="Segoe UI"/>
              </a:rPr>
              <a:t>     Serve several organisations from one installation</a:t>
            </a:r>
          </a:p>
        </p:txBody>
      </p:sp>
      <p:sp>
        <p:nvSpPr>
          <p:cNvPr id="12" name="Rounded Rectangle 11"/>
          <p:cNvSpPr/>
          <p:nvPr/>
        </p:nvSpPr>
        <p:spPr>
          <a:xfrm>
            <a:off x="685800" y="5532120"/>
            <a:ext cx="10789920" cy="731520"/>
          </a:xfrm>
          <a:prstGeom prst="roundRect">
            <a:avLst/>
          </a:prstGeom>
          <a:solidFill>
            <a:srgbClr val="1A2520"/>
          </a:solidFill>
          <a:ln w="12700">
            <a:solidFill>
              <a:srgbClr val="313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5532120"/>
            <a:ext cx="50292" cy="731520"/>
          </a:xfrm>
          <a:prstGeom prst="rect">
            <a:avLst/>
          </a:prstGeom>
          <a:solidFill>
            <a:srgbClr val="38B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660136"/>
            <a:ext cx="10424160" cy="548640"/>
          </a:xfrm>
          <a:prstGeom prst="rect">
            <a:avLst/>
          </a:prstGeom>
          <a:noFill/>
        </p:spPr>
        <p:txBody>
          <a:bodyPr wrap="square">
            <a:spAutoFit/>
          </a:bodyPr>
          <a:lstStyle/>
          <a:p>
            <a:pPr algn="l">
              <a:spcAft>
                <a:spcPts val="600"/>
              </a:spcAft>
            </a:pPr>
            <a:r>
              <a:rPr sz="1300" b="0">
                <a:solidFill>
                  <a:srgbClr val="F0F7F4"/>
                </a:solidFill>
                <a:latin typeface="Segoe UI"/>
              </a:rPr>
              <a:t>Autonomous operations and human control are not in conflict — the approval gate is what makes autonomy safe.</a:t>
            </a:r>
          </a:p>
        </p:txBody>
      </p:sp>
      <p:sp>
        <p:nvSpPr>
          <p:cNvPr id="15" name="TextBox 14"/>
          <p:cNvSpPr txBox="1"/>
          <p:nvPr/>
        </p:nvSpPr>
        <p:spPr>
          <a:xfrm>
            <a:off x="10332720" y="6382512"/>
            <a:ext cx="1463040" cy="274320"/>
          </a:xfrm>
          <a:prstGeom prst="rect">
            <a:avLst/>
          </a:prstGeom>
          <a:noFill/>
        </p:spPr>
        <p:txBody>
          <a:bodyPr wrap="square">
            <a:spAutoFit/>
          </a:bodyPr>
          <a:lstStyle/>
          <a:p>
            <a:pPr algn="r">
              <a:spcAft>
                <a:spcPts val="600"/>
              </a:spcAft>
            </a:pPr>
            <a:r>
              <a:rPr sz="900" b="0">
                <a:solidFill>
                  <a:srgbClr val="6B716E"/>
                </a:solidFill>
                <a:latin typeface="Segoe UI"/>
              </a:rPr>
              <a:t>CortexPrime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82C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514600"/>
            <a:ext cx="10332720" cy="1097280"/>
          </a:xfrm>
          <a:prstGeom prst="rect">
            <a:avLst/>
          </a:prstGeom>
          <a:noFill/>
        </p:spPr>
        <p:txBody>
          <a:bodyPr wrap="square">
            <a:spAutoFit/>
          </a:bodyPr>
          <a:lstStyle/>
          <a:p>
            <a:pPr algn="ctr">
              <a:spcAft>
                <a:spcPts val="600"/>
              </a:spcAft>
            </a:pPr>
            <a:r>
              <a:rPr sz="5000" b="1">
                <a:solidFill>
                  <a:srgbClr val="82C0A4"/>
                </a:solidFill>
                <a:latin typeface="Segoe UI"/>
              </a:rPr>
              <a:t>Thank You</a:t>
            </a:r>
          </a:p>
        </p:txBody>
      </p:sp>
      <p:sp>
        <p:nvSpPr>
          <p:cNvPr id="5" name="Rectangle 4"/>
          <p:cNvSpPr/>
          <p:nvPr/>
        </p:nvSpPr>
        <p:spPr>
          <a:xfrm>
            <a:off x="5641848" y="3657600"/>
            <a:ext cx="914400" cy="41148"/>
          </a:xfrm>
          <a:prstGeom prst="rect">
            <a:avLst/>
          </a:prstGeom>
          <a:solidFill>
            <a:srgbClr val="4A8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931920"/>
            <a:ext cx="10332720" cy="457200"/>
          </a:xfrm>
          <a:prstGeom prst="rect">
            <a:avLst/>
          </a:prstGeom>
          <a:noFill/>
        </p:spPr>
        <p:txBody>
          <a:bodyPr wrap="square">
            <a:spAutoFit/>
          </a:bodyPr>
          <a:lstStyle/>
          <a:p>
            <a:pPr algn="ctr">
              <a:spcAft>
                <a:spcPts val="600"/>
              </a:spcAft>
            </a:pPr>
            <a:r>
              <a:rPr sz="1900" b="0">
                <a:solidFill>
                  <a:srgbClr val="A6ADAA"/>
                </a:solidFill>
                <a:latin typeface="Segoe UI"/>
              </a:rPr>
              <a:t>Questions?</a:t>
            </a:r>
          </a:p>
        </p:txBody>
      </p:sp>
      <p:sp>
        <p:nvSpPr>
          <p:cNvPr id="7" name="TextBox 6"/>
          <p:cNvSpPr txBox="1"/>
          <p:nvPr/>
        </p:nvSpPr>
        <p:spPr>
          <a:xfrm>
            <a:off x="914400" y="5029200"/>
            <a:ext cx="10332720" cy="731520"/>
          </a:xfrm>
          <a:prstGeom prst="rect">
            <a:avLst/>
          </a:prstGeom>
          <a:noFill/>
        </p:spPr>
        <p:txBody>
          <a:bodyPr wrap="square">
            <a:spAutoFit/>
          </a:bodyPr>
          <a:lstStyle/>
          <a:p>
            <a:pPr algn="ctr">
              <a:spcAft>
                <a:spcPts val="300"/>
              </a:spcAft>
            </a:pPr>
            <a:r>
              <a:rPr sz="1700" b="1">
                <a:solidFill>
                  <a:srgbClr val="F0F7F4"/>
                </a:solidFill>
                <a:latin typeface="Segoe UI"/>
              </a:rPr>
              <a:t>Chandu S</a:t>
            </a:r>
          </a:p>
          <a:p>
            <a:pPr algn="ctr">
              <a:spcAft>
                <a:spcPts val="300"/>
              </a:spcAft>
            </a:pPr>
            <a:r>
              <a:rPr sz="1300" b="0">
                <a:solidFill>
                  <a:srgbClr val="A6ADAA"/>
                </a:solidFill>
                <a:latin typeface="Segoe UI"/>
              </a:rPr>
              <a:t>24BMMCA023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